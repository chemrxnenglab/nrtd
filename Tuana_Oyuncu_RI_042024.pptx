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63" r:id="rId3"/>
    <p:sldId id="264" r:id="rId4"/>
    <p:sldId id="266" r:id="rId5"/>
    <p:sldId id="265" r:id="rId6"/>
    <p:sldId id="257" r:id="rId7"/>
    <p:sldId id="268" r:id="rId8"/>
    <p:sldId id="269" r:id="rId9"/>
    <p:sldId id="271" r:id="rId10"/>
    <p:sldId id="273" r:id="rId11"/>
    <p:sldId id="272" r:id="rId12"/>
    <p:sldId id="259" r:id="rId13"/>
    <p:sldId id="260" r:id="rId14"/>
    <p:sldId id="261" r:id="rId15"/>
    <p:sldId id="262" r:id="rId16"/>
    <p:sldId id="267" r:id="rId17"/>
    <p:sldId id="274" r:id="rId18"/>
    <p:sldId id="258" r:id="rId19"/>
    <p:sldId id="270" r:id="rId20"/>
  </p:sldIdLst>
  <p:sldSz cx="12192000" cy="6858000"/>
  <p:notesSz cx="6797675" cy="9856788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6D07"/>
    <a:srgbClr val="FFFFFF"/>
    <a:srgbClr val="575756"/>
    <a:srgbClr val="333333"/>
    <a:srgbClr val="E6E6E6"/>
    <a:srgbClr val="BD6005"/>
    <a:srgbClr val="00B050"/>
    <a:srgbClr val="8C1C00"/>
    <a:srgbClr val="006600"/>
    <a:srgbClr val="7D9A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83" autoAdjust="0"/>
    <p:restoredTop sz="95703" autoAdjust="0"/>
  </p:normalViewPr>
  <p:slideViewPr>
    <p:cSldViewPr>
      <p:cViewPr>
        <p:scale>
          <a:sx n="118" d="100"/>
          <a:sy n="118" d="100"/>
        </p:scale>
        <p:origin x="304" y="33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283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283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2D906-12E9-42EA-8A02-A1A7582BC19D}" type="datetimeFigureOut">
              <a:rPr lang="de-DE" smtClean="0"/>
              <a:t>22.04.24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" y="739775"/>
            <a:ext cx="6569075" cy="36957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768" y="4681974"/>
            <a:ext cx="5438140" cy="443555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362238"/>
            <a:ext cx="2945659" cy="4928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50443" y="9362238"/>
            <a:ext cx="2945659" cy="4928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63BD42-9C78-4E0C-AEAC-2DC2060B56D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3964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jpe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Relationship Id="rId6" Type="http://schemas.openxmlformats.org/officeDocument/2006/relationships/image" Target="../media/image4.jpeg"/><Relationship Id="rId11" Type="http://schemas.openxmlformats.org/officeDocument/2006/relationships/image" Target="../media/image9.png"/><Relationship Id="rId5" Type="http://schemas.openxmlformats.org/officeDocument/2006/relationships/image" Target="../media/image3.tiff"/><Relationship Id="rId10" Type="http://schemas.openxmlformats.org/officeDocument/2006/relationships/image" Target="../media/image8.emf"/><Relationship Id="rId4" Type="http://schemas.openxmlformats.org/officeDocument/2006/relationships/image" Target="../media/image2.png"/><Relationship Id="rId9" Type="http://schemas.openxmlformats.org/officeDocument/2006/relationships/image" Target="../media/image7.tiff"/><Relationship Id="rId14" Type="http://schemas.openxmlformats.org/officeDocument/2006/relationships/image" Target="../media/image12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5663952" y="1133999"/>
            <a:ext cx="6528048" cy="3332800"/>
          </a:xfrm>
        </p:spPr>
        <p:txBody>
          <a:bodyPr anchor="ctr"/>
          <a:lstStyle>
            <a:lvl1pPr>
              <a:defRPr lang="de-DE" sz="2800" kern="1200">
                <a:solidFill>
                  <a:srgbClr val="DF6D07"/>
                </a:solidFill>
                <a:latin typeface="Arial" charset="0"/>
                <a:ea typeface="ＭＳ Ｐゴシック" charset="0"/>
                <a:cs typeface="+mn-cs"/>
              </a:defRPr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5663952" y="4493853"/>
            <a:ext cx="6528048" cy="1440000"/>
          </a:xfrm>
        </p:spPr>
        <p:txBody>
          <a:bodyPr anchor="ctr">
            <a:normAutofit/>
          </a:bodyPr>
          <a:lstStyle>
            <a:lvl1pPr marL="0" indent="0" algn="ctr">
              <a:buNone/>
              <a:defRPr lang="de-DE" sz="2000" kern="1200" smtClean="0">
                <a:solidFill>
                  <a:srgbClr val="575756"/>
                </a:solidFill>
                <a:latin typeface="Arial" charset="0"/>
                <a:ea typeface="ＭＳ Ｐゴシック" charset="0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noProof="0"/>
              <a:t>Click to edit Master subtitle style</a:t>
            </a:r>
            <a:endParaRPr lang="en-US" noProof="0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7938A86B-3E09-4560-BF95-5ACF3C5FEC9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8248" y="54000"/>
            <a:ext cx="3804035" cy="1080000"/>
          </a:xfrm>
          <a:prstGeom prst="rect">
            <a:avLst/>
          </a:prstGeom>
        </p:spPr>
      </p:pic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B1ED4453-6D94-47FE-91F1-82B7443D8BC5}"/>
              </a:ext>
            </a:extLst>
          </p:cNvPr>
          <p:cNvGrpSpPr/>
          <p:nvPr userDrawn="1"/>
        </p:nvGrpSpPr>
        <p:grpSpPr>
          <a:xfrm>
            <a:off x="0" y="3947414"/>
            <a:ext cx="5663952" cy="1929858"/>
            <a:chOff x="0" y="4950000"/>
            <a:chExt cx="5663952" cy="1929858"/>
          </a:xfrm>
        </p:grpSpPr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A63DA0AD-E536-428B-959F-0EF52B3BB110}"/>
                </a:ext>
              </a:extLst>
            </p:cNvPr>
            <p:cNvSpPr/>
            <p:nvPr userDrawn="1"/>
          </p:nvSpPr>
          <p:spPr>
            <a:xfrm>
              <a:off x="0" y="4950000"/>
              <a:ext cx="5663952" cy="540000"/>
            </a:xfrm>
            <a:prstGeom prst="rect">
              <a:avLst/>
            </a:prstGeom>
            <a:solidFill>
              <a:srgbClr val="57575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noProof="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rial" panose="020B0604020202020204" pitchFamily="34" charset="0"/>
                  <a:cs typeface="Arial" panose="020B0604020202020204" pitchFamily="34" charset="0"/>
                </a:rPr>
                <a:t>multi-phase reactions &amp; reactors</a:t>
              </a:r>
            </a:p>
          </p:txBody>
        </p:sp>
        <p:pic>
          <p:nvPicPr>
            <p:cNvPr id="21" name="Grafik 20">
              <a:extLst>
                <a:ext uri="{FF2B5EF4-FFF2-40B4-BE49-F238E27FC236}">
                  <a16:creationId xmlns:a16="http://schemas.microsoft.com/office/drawing/2014/main" id="{46AC0206-E656-4BAD-9CEA-7021AF68EFF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5489999"/>
              <a:ext cx="3145630" cy="1368001"/>
            </a:xfrm>
            <a:prstGeom prst="rect">
              <a:avLst/>
            </a:prstGeom>
          </p:spPr>
        </p:pic>
        <p:pic>
          <p:nvPicPr>
            <p:cNvPr id="23" name="Grafik 22">
              <a:extLst>
                <a:ext uri="{FF2B5EF4-FFF2-40B4-BE49-F238E27FC236}">
                  <a16:creationId xmlns:a16="http://schemas.microsoft.com/office/drawing/2014/main" id="{A1B1F893-6F0B-43EB-B4FA-3EBF7B4F2AB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082787" y="5490000"/>
              <a:ext cx="2581165" cy="1389858"/>
            </a:xfrm>
            <a:prstGeom prst="rect">
              <a:avLst/>
            </a:prstGeom>
          </p:spPr>
        </p:pic>
      </p:grp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37F7BF5-7E60-40E7-9FF3-9161852A5F08}"/>
              </a:ext>
            </a:extLst>
          </p:cNvPr>
          <p:cNvGrpSpPr/>
          <p:nvPr userDrawn="1"/>
        </p:nvGrpSpPr>
        <p:grpSpPr>
          <a:xfrm>
            <a:off x="0" y="-4148"/>
            <a:ext cx="5663952" cy="1929858"/>
            <a:chOff x="0" y="1134000"/>
            <a:chExt cx="5663952" cy="1929858"/>
          </a:xfrm>
        </p:grpSpPr>
        <p:pic>
          <p:nvPicPr>
            <p:cNvPr id="32" name="Grafik 31" descr="Ein Bild, das Essen enthält.&#10;&#10;Automatisch generierte Beschreibung">
              <a:extLst>
                <a:ext uri="{FF2B5EF4-FFF2-40B4-BE49-F238E27FC236}">
                  <a16:creationId xmlns:a16="http://schemas.microsoft.com/office/drawing/2014/main" id="{98C24E7E-85D2-4352-A382-CF78CC2C7D2B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173" t="13580" r="21356" b="17998"/>
            <a:stretch/>
          </p:blipFill>
          <p:spPr>
            <a:xfrm>
              <a:off x="1518782" y="1665514"/>
              <a:ext cx="1389857" cy="1389857"/>
            </a:xfrm>
            <a:prstGeom prst="rect">
              <a:avLst/>
            </a:prstGeom>
          </p:spPr>
        </p:pic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EFD4168-01B7-46E4-A6FE-1409051501AB}"/>
                </a:ext>
              </a:extLst>
            </p:cNvPr>
            <p:cNvSpPr/>
            <p:nvPr userDrawn="1"/>
          </p:nvSpPr>
          <p:spPr>
            <a:xfrm>
              <a:off x="0" y="1134000"/>
              <a:ext cx="5663952" cy="540000"/>
            </a:xfrm>
            <a:prstGeom prst="rect">
              <a:avLst/>
            </a:prstGeom>
            <a:solidFill>
              <a:srgbClr val="57575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0" noProof="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rial" panose="020B0604020202020204" pitchFamily="34" charset="0"/>
                  <a:cs typeface="Arial" panose="020B0604020202020204" pitchFamily="34" charset="0"/>
                </a:rPr>
                <a:t>nanostructured, bi-functional catalysts</a:t>
              </a:r>
            </a:p>
          </p:txBody>
        </p:sp>
        <p:pic>
          <p:nvPicPr>
            <p:cNvPr id="24" name="Grafik 23">
              <a:extLst>
                <a:ext uri="{FF2B5EF4-FFF2-40B4-BE49-F238E27FC236}">
                  <a16:creationId xmlns:a16="http://schemas.microsoft.com/office/drawing/2014/main" id="{E84DDBC3-7915-453A-9721-5D7E1362EF32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7"/>
            <a:srcRect l="2291" t="1484" r="2291" b="2744"/>
            <a:stretch/>
          </p:blipFill>
          <p:spPr>
            <a:xfrm>
              <a:off x="1379" y="1674000"/>
              <a:ext cx="1597210" cy="1384249"/>
            </a:xfrm>
            <a:prstGeom prst="rect">
              <a:avLst/>
            </a:prstGeom>
          </p:spPr>
        </p:pic>
        <p:pic>
          <p:nvPicPr>
            <p:cNvPr id="30" name="Grafik 29">
              <a:extLst>
                <a:ext uri="{FF2B5EF4-FFF2-40B4-BE49-F238E27FC236}">
                  <a16:creationId xmlns:a16="http://schemas.microsoft.com/office/drawing/2014/main" id="{CD88957F-9011-4DD3-804F-C8064FC2BFCF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8"/>
            <a:srcRect l="2469" t="2332" r="2469" b="4979"/>
            <a:stretch/>
          </p:blipFill>
          <p:spPr>
            <a:xfrm>
              <a:off x="4081952" y="1679609"/>
              <a:ext cx="1581999" cy="1384249"/>
            </a:xfrm>
            <a:prstGeom prst="rect">
              <a:avLst/>
            </a:prstGeom>
          </p:spPr>
        </p:pic>
        <p:pic>
          <p:nvPicPr>
            <p:cNvPr id="33" name="Grafik 32" descr="Ein Bild, das Schrank enthält.&#10;&#10;Automatisch generierte Beschreibung">
              <a:extLst>
                <a:ext uri="{FF2B5EF4-FFF2-40B4-BE49-F238E27FC236}">
                  <a16:creationId xmlns:a16="http://schemas.microsoft.com/office/drawing/2014/main" id="{40E5B97F-B135-4CBE-B7FD-19C1979790C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4401" y="1676618"/>
              <a:ext cx="1257549" cy="1381631"/>
            </a:xfrm>
            <a:prstGeom prst="rect">
              <a:avLst/>
            </a:prstGeom>
          </p:spPr>
        </p:pic>
      </p:grp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76AD956C-3F8B-4D2F-9EB6-3ACA924B76A7}"/>
              </a:ext>
            </a:extLst>
          </p:cNvPr>
          <p:cNvGrpSpPr/>
          <p:nvPr userDrawn="1"/>
        </p:nvGrpSpPr>
        <p:grpSpPr>
          <a:xfrm>
            <a:off x="-1" y="1988840"/>
            <a:ext cx="5663953" cy="1897071"/>
            <a:chOff x="-1" y="3063858"/>
            <a:chExt cx="5663953" cy="1897071"/>
          </a:xfrm>
        </p:grpSpPr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1613DFCC-B54F-47FA-88AC-803735AE6E53}"/>
                </a:ext>
              </a:extLst>
            </p:cNvPr>
            <p:cNvSpPr/>
            <p:nvPr userDrawn="1"/>
          </p:nvSpPr>
          <p:spPr>
            <a:xfrm>
              <a:off x="0" y="3063858"/>
              <a:ext cx="5663952" cy="540000"/>
            </a:xfrm>
            <a:prstGeom prst="rect">
              <a:avLst/>
            </a:prstGeom>
            <a:solidFill>
              <a:srgbClr val="57575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noProof="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rial" panose="020B0604020202020204" pitchFamily="34" charset="0"/>
                  <a:cs typeface="Arial" panose="020B0604020202020204" pitchFamily="34" charset="0"/>
                </a:rPr>
                <a:t>dynamic reactor operation</a:t>
              </a:r>
            </a:p>
          </p:txBody>
        </p:sp>
        <p:pic>
          <p:nvPicPr>
            <p:cNvPr id="35" name="Grafik 34">
              <a:extLst>
                <a:ext uri="{FF2B5EF4-FFF2-40B4-BE49-F238E27FC236}">
                  <a16:creationId xmlns:a16="http://schemas.microsoft.com/office/drawing/2014/main" id="{FBDDA22F-D654-4537-8713-E4FD5969307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/>
            <a:stretch>
              <a:fillRect/>
            </a:stretch>
          </p:blipFill>
          <p:spPr>
            <a:xfrm>
              <a:off x="4322889" y="3610929"/>
              <a:ext cx="1341062" cy="1332000"/>
            </a:xfrm>
            <a:prstGeom prst="rect">
              <a:avLst/>
            </a:prstGeom>
          </p:spPr>
        </p:pic>
        <p:pic>
          <p:nvPicPr>
            <p:cNvPr id="54" name="Grafik 53">
              <a:extLst>
                <a:ext uri="{FF2B5EF4-FFF2-40B4-BE49-F238E27FC236}">
                  <a16:creationId xmlns:a16="http://schemas.microsoft.com/office/drawing/2014/main" id="{AFD360D7-B06A-4A7E-80C4-F91DCCC80773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1"/>
            <a:srcRect t="9371" b="6808"/>
            <a:stretch/>
          </p:blipFill>
          <p:spPr>
            <a:xfrm>
              <a:off x="1391894" y="3608223"/>
              <a:ext cx="1780388" cy="1319919"/>
            </a:xfrm>
            <a:prstGeom prst="rect">
              <a:avLst/>
            </a:prstGeom>
          </p:spPr>
        </p:pic>
        <p:pic>
          <p:nvPicPr>
            <p:cNvPr id="55" name="Grafik 54">
              <a:extLst>
                <a:ext uri="{FF2B5EF4-FFF2-40B4-BE49-F238E27FC236}">
                  <a16:creationId xmlns:a16="http://schemas.microsoft.com/office/drawing/2014/main" id="{EA539917-AF59-4973-8F95-0FA488F45F2A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400" t="10502" r="6668" b="28620"/>
            <a:stretch/>
          </p:blipFill>
          <p:spPr>
            <a:xfrm>
              <a:off x="3323378" y="3592929"/>
              <a:ext cx="896586" cy="1368000"/>
            </a:xfrm>
            <a:prstGeom prst="rect">
              <a:avLst/>
            </a:prstGeom>
          </p:spPr>
        </p:pic>
        <p:pic>
          <p:nvPicPr>
            <p:cNvPr id="56" name="Grafik 55">
              <a:extLst>
                <a:ext uri="{FF2B5EF4-FFF2-40B4-BE49-F238E27FC236}">
                  <a16:creationId xmlns:a16="http://schemas.microsoft.com/office/drawing/2014/main" id="{7B073412-E121-4EB9-A73B-8AC753EB836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1" y="3610929"/>
              <a:ext cx="1332000" cy="1332000"/>
            </a:xfrm>
            <a:prstGeom prst="rect">
              <a:avLst/>
            </a:prstGeom>
          </p:spPr>
        </p:pic>
        <p:pic>
          <p:nvPicPr>
            <p:cNvPr id="57" name="Grafik 56">
              <a:extLst>
                <a:ext uri="{FF2B5EF4-FFF2-40B4-BE49-F238E27FC236}">
                  <a16:creationId xmlns:a16="http://schemas.microsoft.com/office/drawing/2014/main" id="{3AB5D57D-DAB7-4ED2-AE96-BC2918DA35F5}"/>
                </a:ext>
              </a:extLst>
            </p:cNvPr>
            <p:cNvPicPr>
              <a:picLocks noChangeAspect="1"/>
            </p:cNvPicPr>
            <p:nvPr userDrawn="1">
              <p:custDataLst>
                <p:tags r:id="rId1"/>
              </p:custDataLst>
            </p:nvPr>
          </p:nvPicPr>
          <p:blipFill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1689" y="3660441"/>
              <a:ext cx="2880000" cy="410992"/>
            </a:xfrm>
            <a:prstGeom prst="rect">
              <a:avLst/>
            </a:prstGeom>
            <a:solidFill>
              <a:schemeClr val="bg1">
                <a:alpha val="85000"/>
              </a:schemeClr>
            </a:solidFill>
          </p:spPr>
        </p:pic>
      </p:grpSp>
      <p:sp>
        <p:nvSpPr>
          <p:cNvPr id="7" name="Rechteck 6">
            <a:extLst>
              <a:ext uri="{FF2B5EF4-FFF2-40B4-BE49-F238E27FC236}">
                <a16:creationId xmlns:a16="http://schemas.microsoft.com/office/drawing/2014/main" id="{D2DACA63-E712-4A97-948C-A159116D5958}"/>
              </a:ext>
            </a:extLst>
          </p:cNvPr>
          <p:cNvSpPr/>
          <p:nvPr userDrawn="1"/>
        </p:nvSpPr>
        <p:spPr>
          <a:xfrm>
            <a:off x="0" y="5960907"/>
            <a:ext cx="12192001" cy="900000"/>
          </a:xfrm>
          <a:prstGeom prst="rect">
            <a:avLst/>
          </a:prstGeom>
          <a:solidFill>
            <a:srgbClr val="57575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Research Internship           | Institute of Chemical Engineering | Ulm University</a:t>
            </a:r>
          </a:p>
        </p:txBody>
      </p:sp>
    </p:spTree>
    <p:extLst>
      <p:ext uri="{BB962C8B-B14F-4D97-AF65-F5344CB8AC3E}">
        <p14:creationId xmlns:p14="http://schemas.microsoft.com/office/powerpoint/2010/main" val="9404286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rgbClr val="DF6D07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DF6D07"/>
              </a:buClr>
              <a:defRPr/>
            </a:lvl1pPr>
            <a:lvl2pPr>
              <a:buClr>
                <a:srgbClr val="DF6D07"/>
              </a:buClr>
              <a:defRPr/>
            </a:lvl2pPr>
            <a:lvl3pPr>
              <a:buClr>
                <a:srgbClr val="DF6D07"/>
              </a:buClr>
              <a:defRPr/>
            </a:lvl3pPr>
            <a:lvl4pPr>
              <a:buClr>
                <a:srgbClr val="DF6D07"/>
              </a:buClr>
              <a:defRPr/>
            </a:lvl4pPr>
            <a:lvl5pPr>
              <a:buClr>
                <a:srgbClr val="DF6D07"/>
              </a:buClr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Line 20"/>
          <p:cNvSpPr>
            <a:spLocks noChangeShapeType="1"/>
          </p:cNvSpPr>
          <p:nvPr userDrawn="1"/>
        </p:nvSpPr>
        <p:spPr bwMode="auto">
          <a:xfrm>
            <a:off x="0" y="182563"/>
            <a:ext cx="11268000" cy="0"/>
          </a:xfrm>
          <a:prstGeom prst="line">
            <a:avLst/>
          </a:prstGeom>
          <a:noFill/>
          <a:ln w="9525">
            <a:solidFill>
              <a:srgbClr val="DF6D07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 sz="1800"/>
          </a:p>
        </p:txBody>
      </p:sp>
      <p:sp>
        <p:nvSpPr>
          <p:cNvPr id="8" name="Rectangle 24"/>
          <p:cNvSpPr>
            <a:spLocks noChangeArrowheads="1"/>
          </p:cNvSpPr>
          <p:nvPr userDrawn="1"/>
        </p:nvSpPr>
        <p:spPr bwMode="auto">
          <a:xfrm>
            <a:off x="0" y="179389"/>
            <a:ext cx="958851" cy="179387"/>
          </a:xfrm>
          <a:prstGeom prst="rect">
            <a:avLst/>
          </a:prstGeom>
          <a:solidFill>
            <a:srgbClr val="DF6D07"/>
          </a:solidFill>
          <a:ln>
            <a:noFill/>
          </a:ln>
          <a:effectLst/>
        </p:spPr>
        <p:txBody>
          <a:bodyPr wrap="none" anchor="ctr"/>
          <a:lstStyle/>
          <a:p>
            <a:pPr algn="ctr"/>
            <a:endParaRPr lang="de-DE" sz="1800">
              <a:solidFill>
                <a:srgbClr val="BD4505"/>
              </a:solidFill>
              <a:latin typeface="Times" charset="0"/>
            </a:endParaRPr>
          </a:p>
        </p:txBody>
      </p:sp>
      <p:sp>
        <p:nvSpPr>
          <p:cNvPr id="9" name="Text Box 23"/>
          <p:cNvSpPr txBox="1">
            <a:spLocks noChangeArrowheads="1"/>
          </p:cNvSpPr>
          <p:nvPr userDrawn="1"/>
        </p:nvSpPr>
        <p:spPr bwMode="auto">
          <a:xfrm>
            <a:off x="1008511" y="200038"/>
            <a:ext cx="8049683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sz="1000" noProof="0" dirty="0">
                <a:solidFill>
                  <a:srgbClr val="DF6D07"/>
                </a:solidFill>
              </a:rPr>
              <a:t>Research Internship| Institute of Chemical Engineering</a:t>
            </a:r>
            <a:endParaRPr lang="en-US" sz="1000" b="1" noProof="0" dirty="0">
              <a:solidFill>
                <a:srgbClr val="DF6D07"/>
              </a:solidFill>
            </a:endParaRPr>
          </a:p>
        </p:txBody>
      </p:sp>
      <p:sp>
        <p:nvSpPr>
          <p:cNvPr id="10" name="Text Box 25"/>
          <p:cNvSpPr txBox="1">
            <a:spLocks noChangeArrowheads="1"/>
          </p:cNvSpPr>
          <p:nvPr userDrawn="1"/>
        </p:nvSpPr>
        <p:spPr bwMode="auto">
          <a:xfrm>
            <a:off x="239184" y="192088"/>
            <a:ext cx="753533" cy="153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de-DE" sz="1000" dirty="0">
                <a:solidFill>
                  <a:schemeClr val="bg1"/>
                </a:solidFill>
              </a:rPr>
              <a:t>Slide </a:t>
            </a:r>
            <a:fld id="{72B15E79-9594-554D-993D-A2428A8EC461}" type="slidenum">
              <a:rPr lang="de-DE" sz="1000">
                <a:solidFill>
                  <a:schemeClr val="bg1"/>
                </a:solidFill>
              </a:rPr>
              <a:pPr>
                <a:spcBef>
                  <a:spcPct val="50000"/>
                </a:spcBef>
              </a:pPr>
              <a:t>‹#›</a:t>
            </a:fld>
            <a:endParaRPr lang="de-DE" sz="1000" dirty="0">
              <a:solidFill>
                <a:schemeClr val="bg1"/>
              </a:solidFill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77B78706-6FB0-41BA-A68C-672E2B168AB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12000" y="0"/>
            <a:ext cx="108000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03253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und Inha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0" y="2716669"/>
            <a:ext cx="12192000" cy="1440160"/>
          </a:xfrm>
        </p:spPr>
        <p:txBody>
          <a:bodyPr anchor="ctr"/>
          <a:lstStyle>
            <a:lvl1pPr algn="ctr">
              <a:defRPr sz="2800">
                <a:solidFill>
                  <a:srgbClr val="DF6D07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7" name="Line 20"/>
          <p:cNvSpPr>
            <a:spLocks noChangeShapeType="1"/>
          </p:cNvSpPr>
          <p:nvPr userDrawn="1"/>
        </p:nvSpPr>
        <p:spPr bwMode="auto">
          <a:xfrm>
            <a:off x="0" y="182563"/>
            <a:ext cx="11268000" cy="0"/>
          </a:xfrm>
          <a:prstGeom prst="line">
            <a:avLst/>
          </a:prstGeom>
          <a:noFill/>
          <a:ln w="9525">
            <a:solidFill>
              <a:srgbClr val="DF6D07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 sz="1800"/>
          </a:p>
        </p:txBody>
      </p:sp>
      <p:sp>
        <p:nvSpPr>
          <p:cNvPr id="8" name="Rectangle 24"/>
          <p:cNvSpPr>
            <a:spLocks noChangeArrowheads="1"/>
          </p:cNvSpPr>
          <p:nvPr userDrawn="1"/>
        </p:nvSpPr>
        <p:spPr bwMode="auto">
          <a:xfrm>
            <a:off x="0" y="179389"/>
            <a:ext cx="958851" cy="179387"/>
          </a:xfrm>
          <a:prstGeom prst="rect">
            <a:avLst/>
          </a:prstGeom>
          <a:solidFill>
            <a:srgbClr val="DF6D07"/>
          </a:solidFill>
          <a:ln>
            <a:noFill/>
          </a:ln>
          <a:effectLst/>
        </p:spPr>
        <p:txBody>
          <a:bodyPr wrap="none" anchor="ctr"/>
          <a:lstStyle/>
          <a:p>
            <a:pPr algn="ctr"/>
            <a:endParaRPr lang="de-DE" sz="1800">
              <a:solidFill>
                <a:srgbClr val="BD4505"/>
              </a:solidFill>
              <a:latin typeface="Times" charset="0"/>
            </a:endParaRPr>
          </a:p>
        </p:txBody>
      </p:sp>
      <p:sp>
        <p:nvSpPr>
          <p:cNvPr id="10" name="Text Box 25"/>
          <p:cNvSpPr txBox="1">
            <a:spLocks noChangeArrowheads="1"/>
          </p:cNvSpPr>
          <p:nvPr userDrawn="1"/>
        </p:nvSpPr>
        <p:spPr bwMode="auto">
          <a:xfrm>
            <a:off x="239184" y="192088"/>
            <a:ext cx="753533" cy="153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de-DE" sz="1000" dirty="0">
                <a:solidFill>
                  <a:schemeClr val="bg1"/>
                </a:solidFill>
              </a:rPr>
              <a:t>Slide </a:t>
            </a:r>
            <a:fld id="{72B15E79-9594-554D-993D-A2428A8EC461}" type="slidenum">
              <a:rPr lang="de-DE" sz="1000">
                <a:solidFill>
                  <a:schemeClr val="bg1"/>
                </a:solidFill>
              </a:rPr>
              <a:pPr>
                <a:spcBef>
                  <a:spcPct val="50000"/>
                </a:spcBef>
              </a:pPr>
              <a:t>‹#›</a:t>
            </a:fld>
            <a:endParaRPr lang="de-DE" sz="1000" dirty="0">
              <a:solidFill>
                <a:schemeClr val="bg1"/>
              </a:solidFill>
            </a:endParaRP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40C7FA73-13A2-46CB-B457-48AF3A5E011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12000" y="0"/>
            <a:ext cx="1080000" cy="1080000"/>
          </a:xfrm>
          <a:prstGeom prst="rect">
            <a:avLst/>
          </a:prstGeom>
        </p:spPr>
      </p:pic>
      <p:sp>
        <p:nvSpPr>
          <p:cNvPr id="3" name="Text Box 23">
            <a:extLst>
              <a:ext uri="{FF2B5EF4-FFF2-40B4-BE49-F238E27FC236}">
                <a16:creationId xmlns:a16="http://schemas.microsoft.com/office/drawing/2014/main" id="{7A858EB8-A51A-A777-4577-A61BAA1E4CF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008511" y="200038"/>
            <a:ext cx="8049683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sz="1000" noProof="0" dirty="0">
                <a:solidFill>
                  <a:srgbClr val="DF6D07"/>
                </a:solidFill>
              </a:rPr>
              <a:t>Research Internship| Institute of Chemical Engineering</a:t>
            </a:r>
            <a:endParaRPr lang="en-US" sz="1000" b="1" noProof="0" dirty="0">
              <a:solidFill>
                <a:srgbClr val="DF6D0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24497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623392" y="476672"/>
            <a:ext cx="11568608" cy="576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 algn="l" fontAlgn="base">
              <a:spcAft>
                <a:spcPct val="0"/>
              </a:spcAft>
            </a:pPr>
            <a:r>
              <a:rPr lang="en-US" noProof="0" dirty="0" err="1"/>
              <a:t>Titelmasterformat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623392" y="1052672"/>
            <a:ext cx="11568608" cy="53985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 dirty="0" err="1"/>
              <a:t>Textmasterformat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/>
            <a:r>
              <a:rPr lang="en-US" noProof="0" dirty="0" err="1"/>
              <a:t>Zweite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2"/>
            <a:r>
              <a:rPr lang="en-US" noProof="0" dirty="0" err="1"/>
              <a:t>Dritte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3"/>
            <a:r>
              <a:rPr lang="en-US" noProof="0" dirty="0" err="1"/>
              <a:t>Vierte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4"/>
            <a:r>
              <a:rPr lang="en-US" noProof="0" dirty="0" err="1"/>
              <a:t>Fünfte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623390" y="6492876"/>
            <a:ext cx="115686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40333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</p:sldLayoutIdLst>
  <p:hf hdr="0" ftr="0"/>
  <p:txStyles>
    <p:titleStyle>
      <a:lvl1pPr algn="ctr" defTabSz="914400" rtl="0" eaLnBrk="1" latinLnBrk="0" hangingPunct="1">
        <a:spcBef>
          <a:spcPct val="0"/>
        </a:spcBef>
        <a:buNone/>
        <a:defRPr lang="de-DE" sz="2400" b="0" kern="1200" dirty="0" smtClean="0">
          <a:solidFill>
            <a:srgbClr val="DF6D07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Arial" pitchFamily="34" charset="0"/>
          <a:ea typeface="+mj-ea"/>
          <a:cs typeface="Arial" pitchFamily="34" charset="0"/>
        </a:defRPr>
      </a:lvl1pPr>
    </p:titleStyle>
    <p:bodyStyle>
      <a:lvl1pPr marL="268288" indent="-268288" algn="l" defTabSz="914400" rtl="0" eaLnBrk="1" latinLnBrk="0" hangingPunct="1">
        <a:spcBef>
          <a:spcPct val="20000"/>
        </a:spcBef>
        <a:buClr>
          <a:srgbClr val="DF6D07"/>
        </a:buClr>
        <a:buFont typeface="Symbol" pitchFamily="18" charset="2"/>
        <a:buChar char="-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1pPr>
      <a:lvl2pPr marL="536575" indent="-268288" algn="l" defTabSz="914400" rtl="0" eaLnBrk="1" latinLnBrk="0" hangingPunct="1">
        <a:spcBef>
          <a:spcPct val="20000"/>
        </a:spcBef>
        <a:buClr>
          <a:srgbClr val="DF6D07"/>
        </a:buClr>
        <a:buFont typeface="Symbol" pitchFamily="18" charset="2"/>
        <a:buChar char="-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DF6D07"/>
        </a:buClr>
        <a:buFont typeface="Symbol" pitchFamily="18" charset="2"/>
        <a:buChar char="-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DF6D07"/>
        </a:buClr>
        <a:buFont typeface="Symbol" pitchFamily="18" charset="2"/>
        <a:buChar char="-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DF6D07"/>
        </a:buClr>
        <a:buFont typeface="Symbol" pitchFamily="18" charset="2"/>
        <a:buChar char="-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D1C8BB-0518-D83F-6A2C-148CFE7CA3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i="0" u="none" strike="noStrike" dirty="0">
                <a:solidFill>
                  <a:srgbClr val="0D0D0D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Machine Learning Approach for Predicting Residence Time Distribution Functions In </a:t>
            </a:r>
            <a:r>
              <a:rPr lang="en-US" b="1" dirty="0">
                <a:solidFill>
                  <a:srgbClr val="0D0D0D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</a:t>
            </a:r>
            <a:r>
              <a:rPr lang="en-US" b="1" i="0" u="none" strike="noStrike" dirty="0">
                <a:solidFill>
                  <a:srgbClr val="0D0D0D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Plug Flow Reactor</a:t>
            </a:r>
            <a:endParaRPr lang="en-TR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877D8655-5415-817F-6E86-03D0B820F1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TR" dirty="0"/>
              <a:t>Tuana Oyuncu</a:t>
            </a:r>
          </a:p>
        </p:txBody>
      </p:sp>
    </p:spTree>
    <p:extLst>
      <p:ext uri="{BB962C8B-B14F-4D97-AF65-F5344CB8AC3E}">
        <p14:creationId xmlns:p14="http://schemas.microsoft.com/office/powerpoint/2010/main" val="23466811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585C04-8ED5-A36E-AFAA-7BB9B8317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R" dirty="0"/>
              <a:t>Experimental Set-up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D41644B-12A9-6942-0584-D6329AFE34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2521" y="1844824"/>
            <a:ext cx="7330350" cy="3384376"/>
          </a:xfrm>
          <a:prstGeom prst="rect">
            <a:avLst/>
          </a:pr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ACCCD17C-3C77-7BFF-3AAA-7F64C784223D}"/>
              </a:ext>
            </a:extLst>
          </p:cNvPr>
          <p:cNvSpPr/>
          <p:nvPr/>
        </p:nvSpPr>
        <p:spPr>
          <a:xfrm>
            <a:off x="7968208" y="4581128"/>
            <a:ext cx="360040" cy="360040"/>
          </a:xfrm>
          <a:prstGeom prst="ellipse">
            <a:avLst/>
          </a:prstGeom>
          <a:solidFill>
            <a:srgbClr val="FFFF00"/>
          </a:solidFill>
          <a:ln>
            <a:solidFill>
              <a:srgbClr val="FFFFF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TR" sz="1600" dirty="0"/>
              <a:t>1</a:t>
            </a:r>
            <a:endParaRPr lang="en-TR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7BD36BE-934B-34FC-3D17-1072C554BFD1}"/>
              </a:ext>
            </a:extLst>
          </p:cNvPr>
          <p:cNvSpPr/>
          <p:nvPr/>
        </p:nvSpPr>
        <p:spPr>
          <a:xfrm>
            <a:off x="6528048" y="4621420"/>
            <a:ext cx="360040" cy="360040"/>
          </a:xfrm>
          <a:prstGeom prst="ellipse">
            <a:avLst/>
          </a:prstGeom>
          <a:solidFill>
            <a:srgbClr val="FFFF00"/>
          </a:solidFill>
          <a:ln>
            <a:solidFill>
              <a:srgbClr val="FFFFF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TR" sz="1600" dirty="0"/>
              <a:t>2</a:t>
            </a:r>
            <a:endParaRPr lang="en-TR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ED0E33F-57E7-7361-D87D-33FF4EAA1E60}"/>
              </a:ext>
            </a:extLst>
          </p:cNvPr>
          <p:cNvSpPr/>
          <p:nvPr/>
        </p:nvSpPr>
        <p:spPr>
          <a:xfrm>
            <a:off x="5915980" y="1916832"/>
            <a:ext cx="360040" cy="360040"/>
          </a:xfrm>
          <a:prstGeom prst="ellipse">
            <a:avLst/>
          </a:prstGeom>
          <a:solidFill>
            <a:srgbClr val="FFFF00"/>
          </a:solidFill>
          <a:ln>
            <a:solidFill>
              <a:srgbClr val="FFFFF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TR" sz="1600" dirty="0"/>
              <a:t>3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53A2970-06D1-A1F1-8F88-867BAAFB2F5B}"/>
              </a:ext>
            </a:extLst>
          </p:cNvPr>
          <p:cNvSpPr/>
          <p:nvPr/>
        </p:nvSpPr>
        <p:spPr>
          <a:xfrm>
            <a:off x="3315038" y="4613609"/>
            <a:ext cx="360040" cy="360040"/>
          </a:xfrm>
          <a:prstGeom prst="ellipse">
            <a:avLst/>
          </a:prstGeom>
          <a:solidFill>
            <a:srgbClr val="FFFF00"/>
          </a:solidFill>
          <a:ln>
            <a:solidFill>
              <a:srgbClr val="FFFFF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TR" sz="1600" dirty="0"/>
              <a:t>4</a:t>
            </a:r>
            <a:endParaRPr lang="en-TR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2254A07-2E8E-DEE5-35A7-840E72CEB840}"/>
              </a:ext>
            </a:extLst>
          </p:cNvPr>
          <p:cNvGrpSpPr/>
          <p:nvPr/>
        </p:nvGrpSpPr>
        <p:grpSpPr>
          <a:xfrm>
            <a:off x="2953659" y="719376"/>
            <a:ext cx="5683645" cy="5697085"/>
            <a:chOff x="2953659" y="719376"/>
            <a:chExt cx="5683645" cy="5697085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058AF8DF-BD8B-C4AE-3303-C26152BE3AF5}"/>
                </a:ext>
              </a:extLst>
            </p:cNvPr>
            <p:cNvCxnSpPr>
              <a:stCxn id="12" idx="4"/>
            </p:cNvCxnSpPr>
            <p:nvPr/>
          </p:nvCxnSpPr>
          <p:spPr>
            <a:xfrm>
              <a:off x="8148228" y="4941168"/>
              <a:ext cx="0" cy="79208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984D5E0-A91A-2A70-CE73-CB4A37599970}"/>
                </a:ext>
              </a:extLst>
            </p:cNvPr>
            <p:cNvSpPr txBox="1"/>
            <p:nvPr/>
          </p:nvSpPr>
          <p:spPr>
            <a:xfrm>
              <a:off x="7659151" y="5770130"/>
              <a:ext cx="97815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TR" dirty="0"/>
                <a:t>RTD 1</a:t>
              </a:r>
              <a:br>
                <a:rPr lang="en-TR" dirty="0"/>
              </a:br>
              <a:r>
                <a:rPr lang="en-TR" dirty="0"/>
                <a:t>(old MS)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6FB9013-5BDE-77CA-BF6C-10BFF4C0B6E6}"/>
                </a:ext>
              </a:extLst>
            </p:cNvPr>
            <p:cNvSpPr txBox="1"/>
            <p:nvPr/>
          </p:nvSpPr>
          <p:spPr>
            <a:xfrm>
              <a:off x="6218991" y="5750796"/>
              <a:ext cx="97815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TR" dirty="0"/>
                <a:t>RTD 2</a:t>
              </a:r>
              <a:br>
                <a:rPr lang="en-TR" dirty="0"/>
              </a:br>
              <a:r>
                <a:rPr lang="en-TR" dirty="0"/>
                <a:t>(old MS)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F6A0714E-52B4-C5B8-B02D-E66163BC99DE}"/>
                </a:ext>
              </a:extLst>
            </p:cNvPr>
            <p:cNvCxnSpPr/>
            <p:nvPr/>
          </p:nvCxnSpPr>
          <p:spPr>
            <a:xfrm>
              <a:off x="6708067" y="4958708"/>
              <a:ext cx="0" cy="79208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A052AB9-4E55-E675-13C8-8D0B0E52AEE4}"/>
                </a:ext>
              </a:extLst>
            </p:cNvPr>
            <p:cNvSpPr txBox="1"/>
            <p:nvPr/>
          </p:nvSpPr>
          <p:spPr>
            <a:xfrm>
              <a:off x="5726117" y="719376"/>
              <a:ext cx="7322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TR" dirty="0"/>
                <a:t>RTD 3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C597FF04-18D7-EC0A-DA75-7BFFED9D81C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2243" y="1124744"/>
              <a:ext cx="0" cy="79208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A404F3B9-C926-549F-A407-A0D25EF5EF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95058" y="3789040"/>
              <a:ext cx="0" cy="79208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3C28EEF-71F7-D8DD-4188-678850FBD3E8}"/>
                </a:ext>
              </a:extLst>
            </p:cNvPr>
            <p:cNvSpPr txBox="1"/>
            <p:nvPr/>
          </p:nvSpPr>
          <p:spPr>
            <a:xfrm>
              <a:off x="2953659" y="3130756"/>
              <a:ext cx="108279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TR" dirty="0"/>
                <a:t>RTD 4</a:t>
              </a:r>
            </a:p>
            <a:p>
              <a:pPr algn="ctr"/>
              <a:r>
                <a:rPr lang="en-TR" dirty="0"/>
                <a:t>(new MS)</a:t>
              </a:r>
            </a:p>
          </p:txBody>
        </p:sp>
      </p:grpSp>
      <p:pic>
        <p:nvPicPr>
          <p:cNvPr id="29" name="Graphic 28" descr="Checkmark">
            <a:extLst>
              <a:ext uri="{FF2B5EF4-FFF2-40B4-BE49-F238E27FC236}">
                <a16:creationId xmlns:a16="http://schemas.microsoft.com/office/drawing/2014/main" id="{1B7BCC73-B557-EB78-3832-1CD27B6A6D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09687" y="3727884"/>
            <a:ext cx="914400" cy="914400"/>
          </a:xfrm>
          <a:prstGeom prst="rect">
            <a:avLst/>
          </a:prstGeom>
        </p:spPr>
      </p:pic>
      <p:pic>
        <p:nvPicPr>
          <p:cNvPr id="30" name="Graphic 29" descr="Checkmark">
            <a:extLst>
              <a:ext uri="{FF2B5EF4-FFF2-40B4-BE49-F238E27FC236}">
                <a16:creationId xmlns:a16="http://schemas.microsoft.com/office/drawing/2014/main" id="{8826706F-EF32-2C4C-D1EC-2030AD94C0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23289" y="4824441"/>
            <a:ext cx="914400" cy="914400"/>
          </a:xfrm>
          <a:prstGeom prst="rect">
            <a:avLst/>
          </a:prstGeom>
        </p:spPr>
      </p:pic>
      <p:pic>
        <p:nvPicPr>
          <p:cNvPr id="31" name="Graphic 30" descr="Checkmark">
            <a:extLst>
              <a:ext uri="{FF2B5EF4-FFF2-40B4-BE49-F238E27FC236}">
                <a16:creationId xmlns:a16="http://schemas.microsoft.com/office/drawing/2014/main" id="{278FBCA7-669F-44A0-42F8-AD9D7E5659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7749" y="4761148"/>
            <a:ext cx="914400" cy="914400"/>
          </a:xfrm>
          <a:prstGeom prst="rect">
            <a:avLst/>
          </a:prstGeom>
        </p:spPr>
      </p:pic>
      <p:pic>
        <p:nvPicPr>
          <p:cNvPr id="33" name="Graphic 32" descr="Close">
            <a:extLst>
              <a:ext uri="{FF2B5EF4-FFF2-40B4-BE49-F238E27FC236}">
                <a16:creationId xmlns:a16="http://schemas.microsoft.com/office/drawing/2014/main" id="{312B1B05-BE6C-F99F-37F8-1522EB9E91C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789572" y="1241938"/>
            <a:ext cx="605341" cy="605341"/>
          </a:xfrm>
          <a:prstGeom prst="rect">
            <a:avLst/>
          </a:prstGeom>
        </p:spPr>
      </p:pic>
      <p:sp>
        <p:nvSpPr>
          <p:cNvPr id="3" name="Left Arrow 2">
            <a:extLst>
              <a:ext uri="{FF2B5EF4-FFF2-40B4-BE49-F238E27FC236}">
                <a16:creationId xmlns:a16="http://schemas.microsoft.com/office/drawing/2014/main" id="{F7F25EA9-5DC3-DFFE-537C-1272F597AE44}"/>
              </a:ext>
            </a:extLst>
          </p:cNvPr>
          <p:cNvSpPr/>
          <p:nvPr/>
        </p:nvSpPr>
        <p:spPr>
          <a:xfrm>
            <a:off x="8983258" y="4769793"/>
            <a:ext cx="1096551" cy="63293"/>
          </a:xfrm>
          <a:prstGeom prst="lef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/>
          </a:p>
        </p:txBody>
      </p:sp>
    </p:spTree>
    <p:extLst>
      <p:ext uri="{BB962C8B-B14F-4D97-AF65-F5344CB8AC3E}">
        <p14:creationId xmlns:p14="http://schemas.microsoft.com/office/powerpoint/2010/main" val="859711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5" grpId="0" animBg="1"/>
      <p:bldP spid="1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23907-7538-3AF7-0FA6-62F17843D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R" dirty="0"/>
              <a:t>1. RTD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619B6-F9E5-D12D-9662-46FC186075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811" y="982800"/>
            <a:ext cx="11568608" cy="5398528"/>
          </a:xfrm>
        </p:spPr>
        <p:txBody>
          <a:bodyPr/>
          <a:lstStyle/>
          <a:p>
            <a:r>
              <a:rPr lang="en-TR" dirty="0"/>
              <a:t>The RTD at the first point which represents the RTD of the MS capillary.</a:t>
            </a:r>
          </a:p>
          <a:p>
            <a:r>
              <a:rPr lang="en-TR" dirty="0"/>
              <a:t>The data is from the old MS and the duration of the experiment is 41 sc.</a:t>
            </a:r>
          </a:p>
          <a:p>
            <a:pPr marL="0" indent="0">
              <a:buNone/>
            </a:pPr>
            <a:endParaRPr lang="en-TR" dirty="0"/>
          </a:p>
          <a:p>
            <a:pPr marL="0" indent="0">
              <a:buNone/>
            </a:pPr>
            <a:endParaRPr lang="en-T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C8A2E6A-0735-2BBB-5283-723D84E0CE53}"/>
                  </a:ext>
                </a:extLst>
              </p:cNvPr>
              <p:cNvSpPr/>
              <p:nvPr/>
            </p:nvSpPr>
            <p:spPr>
              <a:xfrm>
                <a:off x="2639616" y="1844824"/>
                <a:ext cx="1619164" cy="1135602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400" dirty="0"/>
                  <a:t>t</a:t>
                </a:r>
                <a:r>
                  <a:rPr lang="en-TR" sz="1400" baseline="-25000" dirty="0"/>
                  <a:t>c</a:t>
                </a:r>
                <a:r>
                  <a:rPr lang="en-TR" sz="1400" dirty="0"/>
                  <a:t>= 41 s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400" dirty="0"/>
                  <a:t>t</a:t>
                </a:r>
                <a:r>
                  <a:rPr lang="en-TR" sz="1400" baseline="-25000" dirty="0"/>
                  <a:t>E</a:t>
                </a:r>
                <a:r>
                  <a:rPr lang="en-TR" sz="1400" dirty="0"/>
                  <a:t>= 10 s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TR" sz="1400" dirty="0"/>
                  <a:t>t</a:t>
                </a:r>
                <a:r>
                  <a:rPr lang="en-TR" sz="1400" baseline="-25000" dirty="0"/>
                  <a:t>I</a:t>
                </a:r>
                <a:r>
                  <a:rPr lang="en-TR" sz="1400" dirty="0"/>
                  <a:t>=</a:t>
                </a:r>
                <a:r>
                  <a:rPr lang="en-US" sz="1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400" dirty="0"/>
                  <a:t>t</a:t>
                </a:r>
                <a:r>
                  <a:rPr lang="en-TR" sz="1400" baseline="-25000" dirty="0"/>
                  <a:t>c</a:t>
                </a:r>
                <a:r>
                  <a:rPr lang="en-TR" sz="1400" dirty="0"/>
                  <a:t>-</a:t>
                </a:r>
                <a:r>
                  <a:rPr lang="en-US" sz="1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400" dirty="0"/>
                  <a:t>t</a:t>
                </a:r>
                <a:r>
                  <a:rPr lang="en-TR" sz="1400" baseline="-25000" dirty="0"/>
                  <a:t>E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TR" sz="1400" dirty="0"/>
                  <a:t>t</a:t>
                </a:r>
                <a:r>
                  <a:rPr lang="en-TR" sz="1400" baseline="-25000" dirty="0"/>
                  <a:t>I</a:t>
                </a:r>
                <a:r>
                  <a:rPr lang="en-TR" sz="1400" dirty="0"/>
                  <a:t>= 31 s</a:t>
                </a: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C8A2E6A-0735-2BBB-5283-723D84E0CE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9616" y="1844824"/>
                <a:ext cx="1619164" cy="113560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T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3E3EBAED-46A8-74BC-425B-07B262937EA0}"/>
              </a:ext>
            </a:extLst>
          </p:cNvPr>
          <p:cNvSpPr txBox="1"/>
          <p:nvPr/>
        </p:nvSpPr>
        <p:spPr>
          <a:xfrm>
            <a:off x="5345044" y="2412625"/>
            <a:ext cx="341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dirty="0"/>
              <a:t>&amp;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9E7C5E46-879B-7F5A-C193-B6A4FB709C17}"/>
                  </a:ext>
                </a:extLst>
              </p:cNvPr>
              <p:cNvSpPr/>
              <p:nvPr/>
            </p:nvSpPr>
            <p:spPr>
              <a:xfrm>
                <a:off x="6960096" y="1827429"/>
                <a:ext cx="2160240" cy="1374278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n</a:t>
                </a:r>
                <a:r>
                  <a:rPr lang="en-US" sz="1400" baseline="-25000" dirty="0" err="1"/>
                  <a:t>C</a:t>
                </a:r>
                <a:r>
                  <a:rPr lang="en-US" sz="1400" dirty="0"/>
                  <a:t>= 500</a:t>
                </a:r>
              </a:p>
              <a:p>
                <a:pPr algn="ctr"/>
                <a:r>
                  <a:rPr lang="en-US" sz="1400" dirty="0" err="1"/>
                  <a:t>n</a:t>
                </a:r>
                <a:r>
                  <a:rPr lang="en-US" sz="1400" baseline="-25000" dirty="0" err="1"/>
                  <a:t>I</a:t>
                </a:r>
                <a:r>
                  <a:rPr lang="en-US" sz="1400" dirty="0"/>
                  <a:t> =(n</a:t>
                </a:r>
                <a:r>
                  <a:rPr lang="en-US" sz="1400" baseline="-25000" dirty="0"/>
                  <a:t>C</a:t>
                </a:r>
                <a:r>
                  <a:rPr lang="en-US" sz="1400" dirty="0"/>
                  <a:t>-1)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tr-T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tr-TR" sz="1400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ctrlPr>
                              <a:rPr lang="tr-TR" sz="1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nor/>
                              </m:rPr>
                              <a:rPr lang="en-US" sz="1400" dirty="0"/>
                              <m:t>t</m:t>
                            </m:r>
                            <m:r>
                              <m:rPr>
                                <m:nor/>
                              </m:rPr>
                              <a:rPr lang="en-TR" sz="1400" baseline="-25000" dirty="0"/>
                              <m:t>E</m:t>
                            </m:r>
                          </m:num>
                          <m:den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nor/>
                              </m:rPr>
                              <a:rPr lang="en-TR" sz="1400" dirty="0"/>
                              <m:t>t</m:t>
                            </m:r>
                            <m:r>
                              <m:rPr>
                                <m:nor/>
                              </m:rPr>
                              <a:rPr lang="en-TR" sz="1400" baseline="-25000" dirty="0"/>
                              <m:t>I</m:t>
                            </m:r>
                          </m:den>
                        </m:f>
                      </m:den>
                    </m:f>
                  </m:oMath>
                </a14:m>
                <a:endParaRPr lang="en-TR" sz="1400" dirty="0"/>
              </a:p>
              <a:p>
                <a:pPr algn="ctr"/>
                <a:r>
                  <a:rPr lang="en-US" sz="1400" dirty="0" err="1"/>
                  <a:t>n</a:t>
                </a:r>
                <a:r>
                  <a:rPr lang="en-US" sz="1400" baseline="-25000" dirty="0" err="1"/>
                  <a:t>I</a:t>
                </a:r>
                <a:r>
                  <a:rPr lang="en-US" sz="1400" dirty="0"/>
                  <a:t>=377</a:t>
                </a:r>
              </a:p>
              <a:p>
                <a:pPr algn="ctr"/>
                <a:r>
                  <a:rPr lang="en-US" sz="1400" dirty="0" err="1"/>
                  <a:t>n</a:t>
                </a:r>
                <a:r>
                  <a:rPr lang="en-US" sz="1400" baseline="-25000" dirty="0" err="1"/>
                  <a:t>E</a:t>
                </a:r>
                <a:r>
                  <a:rPr lang="en-US" sz="1400" dirty="0"/>
                  <a:t>= </a:t>
                </a:r>
                <a:r>
                  <a:rPr lang="en-US" sz="1400" dirty="0" err="1"/>
                  <a:t>n</a:t>
                </a:r>
                <a:r>
                  <a:rPr lang="en-US" sz="1400" baseline="-25000" dirty="0" err="1"/>
                  <a:t>C</a:t>
                </a:r>
                <a:r>
                  <a:rPr lang="en-US" sz="1400" dirty="0"/>
                  <a:t> – </a:t>
                </a:r>
                <a:r>
                  <a:rPr lang="en-US" sz="1400" dirty="0" err="1"/>
                  <a:t>n</a:t>
                </a:r>
                <a:r>
                  <a:rPr lang="en-US" sz="1400" baseline="-25000" dirty="0" err="1"/>
                  <a:t>I</a:t>
                </a:r>
                <a:r>
                  <a:rPr lang="en-US" sz="1400" baseline="-25000" dirty="0"/>
                  <a:t> </a:t>
                </a:r>
                <a:r>
                  <a:rPr lang="en-US" sz="1400" dirty="0"/>
                  <a:t> – 1</a:t>
                </a:r>
              </a:p>
              <a:p>
                <a:pPr algn="ctr"/>
                <a:r>
                  <a:rPr lang="en-US" sz="1400" dirty="0" err="1"/>
                  <a:t>n</a:t>
                </a:r>
                <a:r>
                  <a:rPr lang="en-US" sz="1400" baseline="-25000" dirty="0" err="1"/>
                  <a:t>E</a:t>
                </a:r>
                <a:r>
                  <a:rPr lang="en-US" sz="1400" dirty="0"/>
                  <a:t>=122</a:t>
                </a:r>
                <a:endParaRPr lang="en-TR" sz="1400" dirty="0"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9E7C5E46-879B-7F5A-C193-B6A4FB709C1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0096" y="1827429"/>
                <a:ext cx="2160240" cy="1374278"/>
              </a:xfrm>
              <a:prstGeom prst="rect">
                <a:avLst/>
              </a:prstGeom>
              <a:blipFill>
                <a:blip r:embed="rId3"/>
                <a:stretch>
                  <a:fillRect t="-909" b="-4545"/>
                </a:stretch>
              </a:blipFill>
            </p:spPr>
            <p:txBody>
              <a:bodyPr/>
              <a:lstStyle/>
              <a:p>
                <a:r>
                  <a:rPr lang="en-T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514B8640-804D-2889-5183-CE98C4AE9CF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188"/>
          <a:stretch/>
        </p:blipFill>
        <p:spPr>
          <a:xfrm>
            <a:off x="80581" y="3355376"/>
            <a:ext cx="5486400" cy="3284984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B1AD777-1B8A-991C-7C1A-24CE02EAE9BD}"/>
              </a:ext>
            </a:extLst>
          </p:cNvPr>
          <p:cNvCxnSpPr>
            <a:cxnSpLocks/>
          </p:cNvCxnSpPr>
          <p:nvPr/>
        </p:nvCxnSpPr>
        <p:spPr>
          <a:xfrm flipV="1">
            <a:off x="5240609" y="4874938"/>
            <a:ext cx="2084155" cy="253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1D4A43E-752E-6BDB-1C8C-97928EFD3C8C}"/>
              </a:ext>
            </a:extLst>
          </p:cNvPr>
          <p:cNvSpPr txBox="1"/>
          <p:nvPr/>
        </p:nvSpPr>
        <p:spPr>
          <a:xfrm>
            <a:off x="5448036" y="4141910"/>
            <a:ext cx="16693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TR" dirty="0"/>
              <a:t>Elimination of </a:t>
            </a:r>
          </a:p>
          <a:p>
            <a:pPr algn="ctr"/>
            <a:r>
              <a:rPr lang="en-TR" dirty="0"/>
              <a:t>data set : </a:t>
            </a:r>
            <a:r>
              <a:rPr lang="en-TR" b="1" dirty="0"/>
              <a:t>7, 12 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F69CE13-C936-F990-6288-069AB0E620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8833" y="3324595"/>
            <a:ext cx="4782586" cy="332808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EDEF862-A727-C52A-C43C-8B7BD20D89B0}"/>
              </a:ext>
            </a:extLst>
          </p:cNvPr>
          <p:cNvSpPr txBox="1"/>
          <p:nvPr/>
        </p:nvSpPr>
        <p:spPr>
          <a:xfrm>
            <a:off x="728133" y="3064933"/>
            <a:ext cx="21333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b="1" dirty="0"/>
              <a:t>Total flow rate </a:t>
            </a:r>
            <a:r>
              <a:rPr lang="en-TR" dirty="0"/>
              <a:t>: 100 </a:t>
            </a:r>
          </a:p>
        </p:txBody>
      </p:sp>
    </p:spTree>
    <p:extLst>
      <p:ext uri="{BB962C8B-B14F-4D97-AF65-F5344CB8AC3E}">
        <p14:creationId xmlns:p14="http://schemas.microsoft.com/office/powerpoint/2010/main" val="3585412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78006-344E-26FA-C273-3847D9029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R" dirty="0"/>
              <a:t>Question: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C64EDA5-086F-0A53-00B7-CEAE948EAB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20734" y="1075207"/>
            <a:ext cx="3475793" cy="22820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5A2A73D-CD25-C076-B60B-6AA52F55F1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360" y="2492896"/>
            <a:ext cx="3590961" cy="23638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962052A-018C-3C25-68E7-7261E87C6B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2812" y="4539242"/>
            <a:ext cx="3384376" cy="2282086"/>
          </a:xfrm>
          <a:prstGeom prst="rect">
            <a:avLst/>
          </a:prstGeom>
        </p:spPr>
      </p:pic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795460C7-BED2-0763-616A-6550E940EBF9}"/>
              </a:ext>
            </a:extLst>
          </p:cNvPr>
          <p:cNvCxnSpPr>
            <a:stCxn id="5" idx="2"/>
            <a:endCxn id="7" idx="1"/>
          </p:cNvCxnSpPr>
          <p:nvPr/>
        </p:nvCxnSpPr>
        <p:spPr>
          <a:xfrm rot="16200000" flipH="1">
            <a:off x="2810081" y="4177554"/>
            <a:ext cx="823490" cy="218197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F69C8A15-BE55-3F0A-06EA-9F521D4E1D8C}"/>
              </a:ext>
            </a:extLst>
          </p:cNvPr>
          <p:cNvCxnSpPr>
            <a:cxnSpLocks/>
            <a:stCxn id="5" idx="0"/>
          </p:cNvCxnSpPr>
          <p:nvPr/>
        </p:nvCxnSpPr>
        <p:spPr>
          <a:xfrm rot="5400000" flipH="1" flipV="1">
            <a:off x="2851751" y="1123914"/>
            <a:ext cx="648072" cy="20898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7A33BC39-B3A9-15D4-9925-4199F8FB859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9494" y="4557551"/>
            <a:ext cx="4099332" cy="1842086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6AD60D25-2BAA-59A2-4FD3-302F1CF874B2}"/>
              </a:ext>
            </a:extLst>
          </p:cNvPr>
          <p:cNvSpPr txBox="1"/>
          <p:nvPr/>
        </p:nvSpPr>
        <p:spPr>
          <a:xfrm>
            <a:off x="10140158" y="4622208"/>
            <a:ext cx="17886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TR" b="1" dirty="0">
                <a:solidFill>
                  <a:srgbClr val="DF6D07"/>
                </a:solidFill>
              </a:rPr>
              <a:t>Better</a:t>
            </a:r>
            <a:r>
              <a:rPr lang="en-TR" dirty="0"/>
              <a:t> results with elimintaion</a:t>
            </a:r>
          </a:p>
        </p:txBody>
      </p:sp>
    </p:spTree>
    <p:extLst>
      <p:ext uri="{BB962C8B-B14F-4D97-AF65-F5344CB8AC3E}">
        <p14:creationId xmlns:p14="http://schemas.microsoft.com/office/powerpoint/2010/main" val="1650107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54BEB7B-C139-762A-E125-2817659AED33}"/>
              </a:ext>
            </a:extLst>
          </p:cNvPr>
          <p:cNvSpPr txBox="1">
            <a:spLocks/>
          </p:cNvSpPr>
          <p:nvPr/>
        </p:nvSpPr>
        <p:spPr>
          <a:xfrm>
            <a:off x="311696" y="620688"/>
            <a:ext cx="11568608" cy="576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lang="de-DE" sz="2400" b="0" kern="1200">
                <a:solidFill>
                  <a:srgbClr val="DF6D0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en-TR"/>
              <a:t>1. RTD </a:t>
            </a:r>
            <a:endParaRPr lang="en-T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12EA44-3F0F-0959-33B5-E989A66E8011}"/>
              </a:ext>
            </a:extLst>
          </p:cNvPr>
          <p:cNvSpPr txBox="1"/>
          <p:nvPr/>
        </p:nvSpPr>
        <p:spPr>
          <a:xfrm>
            <a:off x="1834078" y="1449842"/>
            <a:ext cx="21333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b="1" dirty="0"/>
              <a:t>Total flow rate </a:t>
            </a:r>
            <a:r>
              <a:rPr lang="en-TR" dirty="0"/>
              <a:t>: 150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69FD4-EFFA-AE75-8933-902B56B7C840}"/>
              </a:ext>
            </a:extLst>
          </p:cNvPr>
          <p:cNvSpPr txBox="1"/>
          <p:nvPr/>
        </p:nvSpPr>
        <p:spPr>
          <a:xfrm>
            <a:off x="8209962" y="1412762"/>
            <a:ext cx="21333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b="1" dirty="0"/>
              <a:t>Total flow rate </a:t>
            </a:r>
            <a:r>
              <a:rPr lang="en-TR" dirty="0"/>
              <a:t>: 200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5473BDB-110F-1659-DEE1-0A62B9F73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400" y="2072328"/>
            <a:ext cx="5031455" cy="329470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4E182CB-9639-DFDD-18A7-1B73F84CEC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0528" y="2072328"/>
            <a:ext cx="5329259" cy="3376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05963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RTD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99C0512-6CF4-7E64-2A0E-DCE3328506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TR" dirty="0"/>
              <a:t>The RTD at the end of the first laminar behaviour tube. (Just right before the reactor)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B74EEA78-6B8C-DA35-30EB-E1FA9E7BF3F2}"/>
                  </a:ext>
                </a:extLst>
              </p:cNvPr>
              <p:cNvSpPr/>
              <p:nvPr/>
            </p:nvSpPr>
            <p:spPr>
              <a:xfrm>
                <a:off x="468167" y="1878303"/>
                <a:ext cx="1619164" cy="1135602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400" dirty="0"/>
                  <a:t>t</a:t>
                </a:r>
                <a:r>
                  <a:rPr lang="en-TR" sz="1400" baseline="-25000" dirty="0"/>
                  <a:t>c</a:t>
                </a:r>
                <a:r>
                  <a:rPr lang="en-TR" sz="1400" dirty="0"/>
                  <a:t>= 51 s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400" dirty="0"/>
                  <a:t>t</a:t>
                </a:r>
                <a:r>
                  <a:rPr lang="en-TR" sz="1400" baseline="-25000" dirty="0"/>
                  <a:t>E</a:t>
                </a:r>
                <a:r>
                  <a:rPr lang="en-TR" sz="1400" dirty="0"/>
                  <a:t>= 10 s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TR" sz="1400" dirty="0"/>
                  <a:t>t</a:t>
                </a:r>
                <a:r>
                  <a:rPr lang="en-TR" sz="1400" baseline="-25000" dirty="0"/>
                  <a:t>I</a:t>
                </a:r>
                <a:r>
                  <a:rPr lang="en-TR" sz="1400" dirty="0"/>
                  <a:t>=</a:t>
                </a:r>
                <a:r>
                  <a:rPr lang="en-US" sz="1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400" dirty="0"/>
                  <a:t>t</a:t>
                </a:r>
                <a:r>
                  <a:rPr lang="en-TR" sz="1400" baseline="-25000" dirty="0"/>
                  <a:t>c</a:t>
                </a:r>
                <a:r>
                  <a:rPr lang="en-TR" sz="1400" dirty="0"/>
                  <a:t>-</a:t>
                </a:r>
                <a:r>
                  <a:rPr lang="en-US" sz="1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400" dirty="0"/>
                  <a:t>t</a:t>
                </a:r>
                <a:r>
                  <a:rPr lang="en-TR" sz="1400" baseline="-25000" dirty="0"/>
                  <a:t>E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TR" sz="1400" dirty="0"/>
                  <a:t>t</a:t>
                </a:r>
                <a:r>
                  <a:rPr lang="en-TR" sz="1400" baseline="-25000" dirty="0"/>
                  <a:t>I</a:t>
                </a:r>
                <a:r>
                  <a:rPr lang="en-TR" sz="1400" dirty="0"/>
                  <a:t>= 41 s</a:t>
                </a: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B74EEA78-6B8C-DA35-30EB-E1FA9E7BF3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167" y="1878303"/>
                <a:ext cx="1619164" cy="113560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T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3420E89-903E-67B4-2270-8E92EF1AB0D6}"/>
                  </a:ext>
                </a:extLst>
              </p:cNvPr>
              <p:cNvSpPr/>
              <p:nvPr/>
            </p:nvSpPr>
            <p:spPr>
              <a:xfrm>
                <a:off x="2891529" y="1765866"/>
                <a:ext cx="2160240" cy="1374278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n</a:t>
                </a:r>
                <a:r>
                  <a:rPr lang="en-US" sz="1400" baseline="-25000" dirty="0" err="1"/>
                  <a:t>C</a:t>
                </a:r>
                <a:r>
                  <a:rPr lang="en-US" sz="1400" dirty="0"/>
                  <a:t>= 500</a:t>
                </a:r>
              </a:p>
              <a:p>
                <a:pPr algn="ctr"/>
                <a:r>
                  <a:rPr lang="en-US" sz="1400" dirty="0" err="1"/>
                  <a:t>n</a:t>
                </a:r>
                <a:r>
                  <a:rPr lang="en-US" sz="1400" baseline="-25000" dirty="0" err="1"/>
                  <a:t>I</a:t>
                </a:r>
                <a:r>
                  <a:rPr lang="en-US" sz="1400" dirty="0"/>
                  <a:t> =(n</a:t>
                </a:r>
                <a:r>
                  <a:rPr lang="en-US" sz="1400" baseline="-25000" dirty="0"/>
                  <a:t>C</a:t>
                </a:r>
                <a:r>
                  <a:rPr lang="en-US" sz="1400" dirty="0"/>
                  <a:t>-1)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tr-T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tr-TR" sz="1400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ctrlPr>
                              <a:rPr lang="tr-TR" sz="1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nor/>
                              </m:rPr>
                              <a:rPr lang="en-US" sz="1400" dirty="0"/>
                              <m:t>t</m:t>
                            </m:r>
                            <m:r>
                              <m:rPr>
                                <m:nor/>
                              </m:rPr>
                              <a:rPr lang="en-TR" sz="1400" baseline="-25000" dirty="0"/>
                              <m:t>E</m:t>
                            </m:r>
                          </m:num>
                          <m:den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nor/>
                              </m:rPr>
                              <a:rPr lang="en-TR" sz="1400" dirty="0"/>
                              <m:t>t</m:t>
                            </m:r>
                            <m:r>
                              <m:rPr>
                                <m:nor/>
                              </m:rPr>
                              <a:rPr lang="en-TR" sz="1400" baseline="-25000" dirty="0"/>
                              <m:t>I</m:t>
                            </m:r>
                          </m:den>
                        </m:f>
                      </m:den>
                    </m:f>
                  </m:oMath>
                </a14:m>
                <a:endParaRPr lang="en-TR" sz="1400" dirty="0"/>
              </a:p>
              <a:p>
                <a:pPr algn="ctr"/>
                <a:r>
                  <a:rPr lang="en-US" sz="1400" dirty="0" err="1"/>
                  <a:t>n</a:t>
                </a:r>
                <a:r>
                  <a:rPr lang="en-US" sz="1400" baseline="-25000" dirty="0" err="1"/>
                  <a:t>I</a:t>
                </a:r>
                <a:r>
                  <a:rPr lang="en-US" sz="1400" dirty="0"/>
                  <a:t>=401</a:t>
                </a:r>
              </a:p>
              <a:p>
                <a:pPr algn="ctr"/>
                <a:r>
                  <a:rPr lang="en-US" sz="1400" dirty="0" err="1"/>
                  <a:t>n</a:t>
                </a:r>
                <a:r>
                  <a:rPr lang="en-US" sz="1400" baseline="-25000" dirty="0" err="1"/>
                  <a:t>E</a:t>
                </a:r>
                <a:r>
                  <a:rPr lang="en-US" sz="1400" dirty="0"/>
                  <a:t>= </a:t>
                </a:r>
                <a:r>
                  <a:rPr lang="en-US" sz="1400" dirty="0" err="1"/>
                  <a:t>n</a:t>
                </a:r>
                <a:r>
                  <a:rPr lang="en-US" sz="1400" baseline="-25000" dirty="0" err="1"/>
                  <a:t>C</a:t>
                </a:r>
                <a:r>
                  <a:rPr lang="en-US" sz="1400" dirty="0"/>
                  <a:t> – </a:t>
                </a:r>
                <a:r>
                  <a:rPr lang="en-US" sz="1400" dirty="0" err="1"/>
                  <a:t>n</a:t>
                </a:r>
                <a:r>
                  <a:rPr lang="en-US" sz="1400" baseline="-25000" dirty="0" err="1"/>
                  <a:t>I</a:t>
                </a:r>
                <a:r>
                  <a:rPr lang="en-US" sz="1400" baseline="-25000" dirty="0"/>
                  <a:t> </a:t>
                </a:r>
                <a:r>
                  <a:rPr lang="en-US" sz="1400" dirty="0"/>
                  <a:t> – 1</a:t>
                </a:r>
              </a:p>
              <a:p>
                <a:pPr algn="ctr"/>
                <a:r>
                  <a:rPr lang="en-US" sz="1400" dirty="0" err="1"/>
                  <a:t>n</a:t>
                </a:r>
                <a:r>
                  <a:rPr lang="en-US" sz="1400" baseline="-25000" dirty="0" err="1"/>
                  <a:t>E</a:t>
                </a:r>
                <a:r>
                  <a:rPr lang="en-US" sz="1400" dirty="0"/>
                  <a:t>=98</a:t>
                </a:r>
                <a:endParaRPr lang="en-TR" sz="1400" dirty="0"/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3420E89-903E-67B4-2270-8E92EF1AB0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1529" y="1765866"/>
                <a:ext cx="2160240" cy="1374278"/>
              </a:xfrm>
              <a:prstGeom prst="rect">
                <a:avLst/>
              </a:prstGeom>
              <a:blipFill>
                <a:blip r:embed="rId3"/>
                <a:stretch>
                  <a:fillRect t="-901" b="-3604"/>
                </a:stretch>
              </a:blipFill>
            </p:spPr>
            <p:txBody>
              <a:bodyPr/>
              <a:lstStyle/>
              <a:p>
                <a:r>
                  <a:rPr lang="en-T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77B0142B-A969-84CE-3FD7-EF625919BC63}"/>
              </a:ext>
            </a:extLst>
          </p:cNvPr>
          <p:cNvSpPr txBox="1"/>
          <p:nvPr/>
        </p:nvSpPr>
        <p:spPr>
          <a:xfrm>
            <a:off x="2318550" y="2261438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TR" dirty="0"/>
              <a:t>&amp;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3B561B-66E1-DEFF-0910-023E98964409}"/>
              </a:ext>
            </a:extLst>
          </p:cNvPr>
          <p:cNvSpPr txBox="1"/>
          <p:nvPr/>
        </p:nvSpPr>
        <p:spPr>
          <a:xfrm>
            <a:off x="2254430" y="3700908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b="1" dirty="0">
                <a:solidFill>
                  <a:srgbClr val="FF0000"/>
                </a:solidFill>
              </a:rPr>
              <a:t>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8A3858B9-63FE-DCF5-BEF8-A4DF640F0780}"/>
                  </a:ext>
                </a:extLst>
              </p:cNvPr>
              <p:cNvSpPr/>
              <p:nvPr/>
            </p:nvSpPr>
            <p:spPr>
              <a:xfrm>
                <a:off x="455765" y="4659816"/>
                <a:ext cx="1619164" cy="1135602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400" dirty="0"/>
                  <a:t>t</a:t>
                </a:r>
                <a:r>
                  <a:rPr lang="en-TR" sz="1400" baseline="-25000" dirty="0"/>
                  <a:t>c</a:t>
                </a:r>
                <a:r>
                  <a:rPr lang="en-TR" sz="1400" dirty="0"/>
                  <a:t>= 51 s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400" dirty="0"/>
                  <a:t>t</a:t>
                </a:r>
                <a:r>
                  <a:rPr lang="en-TR" sz="1400" baseline="-25000" dirty="0"/>
                  <a:t>E</a:t>
                </a:r>
                <a:r>
                  <a:rPr lang="en-TR" sz="1400" dirty="0"/>
                  <a:t>= 15 s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TR" sz="1400" dirty="0"/>
                  <a:t>t</a:t>
                </a:r>
                <a:r>
                  <a:rPr lang="en-TR" sz="1400" baseline="-25000" dirty="0"/>
                  <a:t>I</a:t>
                </a:r>
                <a:r>
                  <a:rPr lang="en-TR" sz="1400" dirty="0"/>
                  <a:t>=</a:t>
                </a:r>
                <a:r>
                  <a:rPr lang="en-US" sz="1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400" dirty="0"/>
                  <a:t>t</a:t>
                </a:r>
                <a:r>
                  <a:rPr lang="en-TR" sz="1400" baseline="-25000" dirty="0"/>
                  <a:t>c</a:t>
                </a:r>
                <a:r>
                  <a:rPr lang="en-TR" sz="1400" dirty="0"/>
                  <a:t>-</a:t>
                </a:r>
                <a:r>
                  <a:rPr lang="en-US" sz="1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400" dirty="0"/>
                  <a:t>t</a:t>
                </a:r>
                <a:r>
                  <a:rPr lang="en-TR" sz="1400" baseline="-25000" dirty="0"/>
                  <a:t>E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TR" sz="1400" dirty="0"/>
                  <a:t>t</a:t>
                </a:r>
                <a:r>
                  <a:rPr lang="en-TR" sz="1400" baseline="-25000" dirty="0"/>
                  <a:t>I</a:t>
                </a:r>
                <a:r>
                  <a:rPr lang="en-TR" sz="1400" dirty="0"/>
                  <a:t>= 36 s</a:t>
                </a:r>
              </a:p>
            </p:txBody>
          </p:sp>
        </mc:Choice>
        <mc:Fallback xmlns="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8A3858B9-63FE-DCF5-BEF8-A4DF640F078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765" y="4659816"/>
                <a:ext cx="1619164" cy="113560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T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B7E7BBC2-1DA5-A7B3-5F3A-C92C81FF3314}"/>
                  </a:ext>
                </a:extLst>
              </p:cNvPr>
              <p:cNvSpPr/>
              <p:nvPr/>
            </p:nvSpPr>
            <p:spPr>
              <a:xfrm>
                <a:off x="2903931" y="4540478"/>
                <a:ext cx="2160240" cy="1374278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n</a:t>
                </a:r>
                <a:r>
                  <a:rPr lang="en-US" sz="1400" baseline="-25000" dirty="0" err="1"/>
                  <a:t>C</a:t>
                </a:r>
                <a:r>
                  <a:rPr lang="en-US" sz="1400" dirty="0"/>
                  <a:t>= 500</a:t>
                </a:r>
              </a:p>
              <a:p>
                <a:pPr algn="ctr"/>
                <a:r>
                  <a:rPr lang="en-US" sz="1400" dirty="0" err="1"/>
                  <a:t>n</a:t>
                </a:r>
                <a:r>
                  <a:rPr lang="en-US" sz="1400" baseline="-25000" dirty="0" err="1"/>
                  <a:t>I</a:t>
                </a:r>
                <a:r>
                  <a:rPr lang="en-US" sz="1400" dirty="0"/>
                  <a:t> =(n</a:t>
                </a:r>
                <a:r>
                  <a:rPr lang="en-US" sz="1400" baseline="-25000" dirty="0"/>
                  <a:t>C</a:t>
                </a:r>
                <a:r>
                  <a:rPr lang="en-US" sz="1400" dirty="0"/>
                  <a:t>-1)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tr-T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tr-TR" sz="1400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ctrlPr>
                              <a:rPr lang="tr-TR" sz="1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nor/>
                              </m:rPr>
                              <a:rPr lang="en-US" sz="1400" dirty="0"/>
                              <m:t>t</m:t>
                            </m:r>
                            <m:r>
                              <m:rPr>
                                <m:nor/>
                              </m:rPr>
                              <a:rPr lang="en-TR" sz="1400" baseline="-25000" dirty="0"/>
                              <m:t>E</m:t>
                            </m:r>
                          </m:num>
                          <m:den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nor/>
                              </m:rPr>
                              <a:rPr lang="en-TR" sz="1400" dirty="0"/>
                              <m:t>t</m:t>
                            </m:r>
                            <m:r>
                              <m:rPr>
                                <m:nor/>
                              </m:rPr>
                              <a:rPr lang="en-TR" sz="1400" baseline="-25000" dirty="0"/>
                              <m:t>I</m:t>
                            </m:r>
                          </m:den>
                        </m:f>
                      </m:den>
                    </m:f>
                  </m:oMath>
                </a14:m>
                <a:endParaRPr lang="en-TR" sz="1400" dirty="0"/>
              </a:p>
              <a:p>
                <a:pPr algn="ctr"/>
                <a:r>
                  <a:rPr lang="en-US" sz="1400" dirty="0" err="1"/>
                  <a:t>n</a:t>
                </a:r>
                <a:r>
                  <a:rPr lang="en-US" sz="1400" baseline="-25000" dirty="0" err="1"/>
                  <a:t>I</a:t>
                </a:r>
                <a:r>
                  <a:rPr lang="en-US" sz="1400" dirty="0"/>
                  <a:t>=352</a:t>
                </a:r>
              </a:p>
              <a:p>
                <a:pPr algn="ctr"/>
                <a:r>
                  <a:rPr lang="en-US" sz="1400" dirty="0" err="1"/>
                  <a:t>n</a:t>
                </a:r>
                <a:r>
                  <a:rPr lang="en-US" sz="1400" baseline="-25000" dirty="0" err="1"/>
                  <a:t>E</a:t>
                </a:r>
                <a:r>
                  <a:rPr lang="en-US" sz="1400" dirty="0"/>
                  <a:t>= </a:t>
                </a:r>
                <a:r>
                  <a:rPr lang="en-US" sz="1400" dirty="0" err="1"/>
                  <a:t>n</a:t>
                </a:r>
                <a:r>
                  <a:rPr lang="en-US" sz="1400" baseline="-25000" dirty="0" err="1"/>
                  <a:t>C</a:t>
                </a:r>
                <a:r>
                  <a:rPr lang="en-US" sz="1400" dirty="0"/>
                  <a:t> – </a:t>
                </a:r>
                <a:r>
                  <a:rPr lang="en-US" sz="1400" dirty="0" err="1"/>
                  <a:t>n</a:t>
                </a:r>
                <a:r>
                  <a:rPr lang="en-US" sz="1400" baseline="-25000" dirty="0" err="1"/>
                  <a:t>I</a:t>
                </a:r>
                <a:r>
                  <a:rPr lang="en-US" sz="1400" baseline="-25000" dirty="0"/>
                  <a:t> </a:t>
                </a:r>
                <a:r>
                  <a:rPr lang="en-US" sz="1400" dirty="0"/>
                  <a:t> – 1</a:t>
                </a:r>
              </a:p>
              <a:p>
                <a:pPr algn="ctr"/>
                <a:r>
                  <a:rPr lang="en-US" sz="1400" dirty="0" err="1"/>
                  <a:t>n</a:t>
                </a:r>
                <a:r>
                  <a:rPr lang="en-US" sz="1400" baseline="-25000" dirty="0" err="1"/>
                  <a:t>E</a:t>
                </a:r>
                <a:r>
                  <a:rPr lang="en-US" sz="1400" dirty="0"/>
                  <a:t>=147</a:t>
                </a:r>
                <a:endParaRPr lang="en-TR" sz="1400" dirty="0"/>
              </a:p>
            </p:txBody>
          </p:sp>
        </mc:Choice>
        <mc:Fallback xmlns="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B7E7BBC2-1DA5-A7B3-5F3A-C92C81FF33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3931" y="4540478"/>
                <a:ext cx="2160240" cy="1374278"/>
              </a:xfrm>
              <a:prstGeom prst="rect">
                <a:avLst/>
              </a:prstGeom>
              <a:blipFill>
                <a:blip r:embed="rId5"/>
                <a:stretch>
                  <a:fillRect b="-4505"/>
                </a:stretch>
              </a:blipFill>
            </p:spPr>
            <p:txBody>
              <a:bodyPr/>
              <a:lstStyle/>
              <a:p>
                <a:r>
                  <a:rPr lang="en-T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E58F85F3-5007-93EB-58BF-789E908476B3}"/>
              </a:ext>
            </a:extLst>
          </p:cNvPr>
          <p:cNvSpPr txBox="1"/>
          <p:nvPr/>
        </p:nvSpPr>
        <p:spPr>
          <a:xfrm>
            <a:off x="2318550" y="5048466"/>
            <a:ext cx="341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dirty="0"/>
              <a:t>&amp;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76BC8E8-B0D5-E137-6F1F-C9576AFD3D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7905" y="1614983"/>
            <a:ext cx="3934296" cy="2478606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73F6AE7-F644-D285-1AF2-32607D23E615}"/>
              </a:ext>
            </a:extLst>
          </p:cNvPr>
          <p:cNvCxnSpPr/>
          <p:nvPr/>
        </p:nvCxnSpPr>
        <p:spPr>
          <a:xfrm>
            <a:off x="5491067" y="2630770"/>
            <a:ext cx="11636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8EA22B9-806F-270D-2BF9-A2B9C05661E6}"/>
              </a:ext>
            </a:extLst>
          </p:cNvPr>
          <p:cNvCxnSpPr/>
          <p:nvPr/>
        </p:nvCxnSpPr>
        <p:spPr>
          <a:xfrm>
            <a:off x="5620368" y="5373101"/>
            <a:ext cx="11636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94BFD79D-83BF-C2EC-F3B1-36F986BA2F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27831" y="4114310"/>
            <a:ext cx="3934296" cy="2582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6847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A129EB9-9D42-B7A6-A940-CE09041CB0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3472" y="2402950"/>
            <a:ext cx="2592288" cy="251346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268EE74-1EF0-9BAC-5174-B7CC403454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8612" y="1843584"/>
            <a:ext cx="4025900" cy="36322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1BB12B1-13C3-4EFB-08F6-B9F151870F71}"/>
                  </a:ext>
                </a:extLst>
              </p:cNvPr>
              <p:cNvSpPr txBox="1"/>
              <p:nvPr/>
            </p:nvSpPr>
            <p:spPr>
              <a:xfrm>
                <a:off x="4841192" y="2524687"/>
                <a:ext cx="1019831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TR" b="1" dirty="0"/>
                  <a:t>199 </a:t>
                </a:r>
              </a:p>
              <a:p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800" dirty="0"/>
                  <a:t>t</a:t>
                </a:r>
                <a:r>
                  <a:rPr lang="en-TR" sz="1800" baseline="-25000" dirty="0"/>
                  <a:t>E</a:t>
                </a:r>
                <a:r>
                  <a:rPr lang="en-TR" sz="1800" dirty="0"/>
                  <a:t>= 10 s</a:t>
                </a:r>
              </a:p>
              <a:p>
                <a:r>
                  <a:rPr lang="en-TR" dirty="0"/>
                  <a:t>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1BB12B1-13C3-4EFB-08F6-B9F151870F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1192" y="2524687"/>
                <a:ext cx="1019831" cy="923330"/>
              </a:xfrm>
              <a:prstGeom prst="rect">
                <a:avLst/>
              </a:prstGeom>
              <a:blipFill>
                <a:blip r:embed="rId4"/>
                <a:stretch>
                  <a:fillRect t="-2703" r="-3704"/>
                </a:stretch>
              </a:blipFill>
            </p:spPr>
            <p:txBody>
              <a:bodyPr/>
              <a:lstStyle/>
              <a:p>
                <a:r>
                  <a:rPr lang="en-T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90E901F-B820-8296-283E-21A3143F3D3B}"/>
                  </a:ext>
                </a:extLst>
              </p:cNvPr>
              <p:cNvSpPr txBox="1"/>
              <p:nvPr/>
            </p:nvSpPr>
            <p:spPr>
              <a:xfrm>
                <a:off x="4841192" y="3712568"/>
                <a:ext cx="1019831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TR" b="1" dirty="0"/>
                  <a:t>200</a:t>
                </a:r>
              </a:p>
              <a:p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800" dirty="0"/>
                  <a:t>t</a:t>
                </a:r>
                <a:r>
                  <a:rPr lang="en-TR" sz="1800" baseline="-25000" dirty="0"/>
                  <a:t>E</a:t>
                </a:r>
                <a:r>
                  <a:rPr lang="en-TR" sz="1800" dirty="0"/>
                  <a:t>= 15 s</a:t>
                </a:r>
              </a:p>
              <a:p>
                <a:r>
                  <a:rPr lang="en-TR" dirty="0"/>
                  <a:t>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90E901F-B820-8296-283E-21A3143F3D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1192" y="3712568"/>
                <a:ext cx="1019831" cy="923330"/>
              </a:xfrm>
              <a:prstGeom prst="rect">
                <a:avLst/>
              </a:prstGeom>
              <a:blipFill>
                <a:blip r:embed="rId5"/>
                <a:stretch>
                  <a:fillRect t="-2740" r="-3704"/>
                </a:stretch>
              </a:blipFill>
            </p:spPr>
            <p:txBody>
              <a:bodyPr/>
              <a:lstStyle/>
              <a:p>
                <a:r>
                  <a:rPr lang="en-T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itel 1">
            <a:extLst>
              <a:ext uri="{FF2B5EF4-FFF2-40B4-BE49-F238E27FC236}">
                <a16:creationId xmlns:a16="http://schemas.microsoft.com/office/drawing/2014/main" id="{5154499E-6F2D-C88D-FC1F-68B644529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392" y="476672"/>
            <a:ext cx="11568608" cy="576000"/>
          </a:xfrm>
        </p:spPr>
        <p:txBody>
          <a:bodyPr/>
          <a:lstStyle/>
          <a:p>
            <a:r>
              <a:rPr lang="en-US" dirty="0"/>
              <a:t>2. RTD</a:t>
            </a:r>
          </a:p>
        </p:txBody>
      </p:sp>
    </p:spTree>
    <p:extLst>
      <p:ext uri="{BB962C8B-B14F-4D97-AF65-F5344CB8AC3E}">
        <p14:creationId xmlns:p14="http://schemas.microsoft.com/office/powerpoint/2010/main" val="21514415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1">
            <a:extLst>
              <a:ext uri="{FF2B5EF4-FFF2-40B4-BE49-F238E27FC236}">
                <a16:creationId xmlns:a16="http://schemas.microsoft.com/office/drawing/2014/main" id="{A9655FF1-AF83-09E0-A990-6EDBF04A7E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392" y="476672"/>
            <a:ext cx="11568608" cy="576000"/>
          </a:xfrm>
        </p:spPr>
        <p:txBody>
          <a:bodyPr/>
          <a:lstStyle/>
          <a:p>
            <a:r>
              <a:rPr lang="en-US" dirty="0"/>
              <a:t>2. RTD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166E6E-FE25-D42A-BE63-D5F3F5DF38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416" y="2060847"/>
            <a:ext cx="4512089" cy="297797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147A2A0-EFC4-BCB7-E926-DD69C1A88A10}"/>
              </a:ext>
            </a:extLst>
          </p:cNvPr>
          <p:cNvSpPr txBox="1"/>
          <p:nvPr/>
        </p:nvSpPr>
        <p:spPr>
          <a:xfrm>
            <a:off x="1834078" y="1449842"/>
            <a:ext cx="21333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b="1" dirty="0"/>
              <a:t>Total flow rate </a:t>
            </a:r>
            <a:r>
              <a:rPr lang="en-TR" dirty="0"/>
              <a:t>: 150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3C40FD-9022-EAD6-CF23-25E1B8314FE2}"/>
              </a:ext>
            </a:extLst>
          </p:cNvPr>
          <p:cNvSpPr txBox="1"/>
          <p:nvPr/>
        </p:nvSpPr>
        <p:spPr>
          <a:xfrm>
            <a:off x="8209962" y="1412762"/>
            <a:ext cx="21333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b="1" dirty="0"/>
              <a:t>Total flow rate </a:t>
            </a:r>
            <a:r>
              <a:rPr lang="en-TR" dirty="0"/>
              <a:t>: 200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B9A325A-67BB-EC10-1D49-935B1C2106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266" y="2192560"/>
            <a:ext cx="4447317" cy="2897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7183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A1376-553A-C1F7-97B4-1748F7D68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R" dirty="0"/>
              <a:t>4. RTD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59AEA0-3BEC-2DA7-E8BA-EA16762C8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TR" dirty="0"/>
              <a:t>It represents the whole set-up which includes :</a:t>
            </a:r>
          </a:p>
          <a:p>
            <a:pPr marL="623888" lvl="4" indent="-222250"/>
            <a:r>
              <a:rPr lang="en-TR" dirty="0"/>
              <a:t>MS Capillary</a:t>
            </a:r>
          </a:p>
          <a:p>
            <a:pPr marL="623888" lvl="4" indent="-222250"/>
            <a:r>
              <a:rPr lang="en-TR" dirty="0"/>
              <a:t>1st tube</a:t>
            </a:r>
          </a:p>
          <a:p>
            <a:pPr marL="623888" lvl="4" indent="-222250"/>
            <a:r>
              <a:rPr lang="en-TR" dirty="0"/>
              <a:t>Reactor</a:t>
            </a:r>
          </a:p>
          <a:p>
            <a:pPr marL="623888" lvl="4" indent="-222250"/>
            <a:r>
              <a:rPr lang="en-TR" dirty="0"/>
              <a:t>2nd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57E2A14-5023-13A9-7C90-37DE1AED6115}"/>
                  </a:ext>
                </a:extLst>
              </p:cNvPr>
              <p:cNvSpPr/>
              <p:nvPr/>
            </p:nvSpPr>
            <p:spPr>
              <a:xfrm>
                <a:off x="3215680" y="1628672"/>
                <a:ext cx="1619164" cy="1135602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400" dirty="0"/>
                  <a:t>t</a:t>
                </a:r>
                <a:r>
                  <a:rPr lang="en-TR" sz="1400" baseline="-25000" dirty="0"/>
                  <a:t>c</a:t>
                </a:r>
                <a:r>
                  <a:rPr lang="en-TR" sz="1400" dirty="0"/>
                  <a:t>= 56 s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400" dirty="0"/>
                  <a:t>t</a:t>
                </a:r>
                <a:r>
                  <a:rPr lang="en-TR" sz="1400" baseline="-25000" dirty="0"/>
                  <a:t>E</a:t>
                </a:r>
                <a:r>
                  <a:rPr lang="en-TR" sz="1400" dirty="0"/>
                  <a:t>= 20 s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TR" sz="1400" dirty="0"/>
                  <a:t>t</a:t>
                </a:r>
                <a:r>
                  <a:rPr lang="en-TR" sz="1400" baseline="-25000" dirty="0"/>
                  <a:t>I</a:t>
                </a:r>
                <a:r>
                  <a:rPr lang="en-TR" sz="1400" dirty="0"/>
                  <a:t>=</a:t>
                </a:r>
                <a:r>
                  <a:rPr lang="en-US" sz="1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400" dirty="0"/>
                  <a:t>t</a:t>
                </a:r>
                <a:r>
                  <a:rPr lang="en-TR" sz="1400" baseline="-25000" dirty="0"/>
                  <a:t>c</a:t>
                </a:r>
                <a:r>
                  <a:rPr lang="en-TR" sz="1400" dirty="0"/>
                  <a:t>-</a:t>
                </a:r>
                <a:r>
                  <a:rPr lang="en-US" sz="1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400" dirty="0"/>
                  <a:t>t</a:t>
                </a:r>
                <a:r>
                  <a:rPr lang="en-TR" sz="1400" baseline="-25000" dirty="0"/>
                  <a:t>E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TR" sz="1400" dirty="0"/>
                  <a:t>t</a:t>
                </a:r>
                <a:r>
                  <a:rPr lang="en-TR" sz="1400" baseline="-25000" dirty="0"/>
                  <a:t>I</a:t>
                </a:r>
                <a:r>
                  <a:rPr lang="en-TR" sz="1400" dirty="0"/>
                  <a:t>= 36 s</a:t>
                </a:r>
              </a:p>
            </p:txBody>
          </p:sp>
        </mc:Choice>
        <mc:Fallback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57E2A14-5023-13A9-7C90-37DE1AED611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5680" y="1628672"/>
                <a:ext cx="1619164" cy="113560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T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66A03FE-37E4-932D-5D3B-1247A9079BFE}"/>
                  </a:ext>
                </a:extLst>
              </p:cNvPr>
              <p:cNvSpPr/>
              <p:nvPr/>
            </p:nvSpPr>
            <p:spPr>
              <a:xfrm>
                <a:off x="5015880" y="1532322"/>
                <a:ext cx="2160240" cy="1374278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n</a:t>
                </a:r>
                <a:r>
                  <a:rPr lang="en-US" sz="1400" baseline="-25000" dirty="0" err="1"/>
                  <a:t>C</a:t>
                </a:r>
                <a:r>
                  <a:rPr lang="en-US" sz="1400" dirty="0"/>
                  <a:t>= 500</a:t>
                </a:r>
              </a:p>
              <a:p>
                <a:pPr algn="ctr"/>
                <a:r>
                  <a:rPr lang="en-US" sz="1400" dirty="0" err="1"/>
                  <a:t>n</a:t>
                </a:r>
                <a:r>
                  <a:rPr lang="en-US" sz="1400" baseline="-25000" dirty="0" err="1"/>
                  <a:t>I</a:t>
                </a:r>
                <a:r>
                  <a:rPr lang="en-US" sz="1400" dirty="0"/>
                  <a:t> =(n</a:t>
                </a:r>
                <a:r>
                  <a:rPr lang="en-US" sz="1400" baseline="-25000" dirty="0"/>
                  <a:t>C</a:t>
                </a:r>
                <a:r>
                  <a:rPr lang="en-US" sz="1400" dirty="0"/>
                  <a:t>-1)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tr-T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tr-TR" sz="1400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ctrlPr>
                              <a:rPr lang="tr-TR" sz="1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nor/>
                              </m:rPr>
                              <a:rPr lang="en-US" sz="1400" dirty="0"/>
                              <m:t>t</m:t>
                            </m:r>
                            <m:r>
                              <m:rPr>
                                <m:nor/>
                              </m:rPr>
                              <a:rPr lang="en-TR" sz="1400" baseline="-25000" dirty="0"/>
                              <m:t>E</m:t>
                            </m:r>
                          </m:num>
                          <m:den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nor/>
                              </m:rPr>
                              <a:rPr lang="en-TR" sz="1400" dirty="0"/>
                              <m:t>t</m:t>
                            </m:r>
                            <m:r>
                              <m:rPr>
                                <m:nor/>
                              </m:rPr>
                              <a:rPr lang="en-TR" sz="1400" baseline="-25000" dirty="0"/>
                              <m:t>I</m:t>
                            </m:r>
                          </m:den>
                        </m:f>
                      </m:den>
                    </m:f>
                  </m:oMath>
                </a14:m>
                <a:endParaRPr lang="en-TR" sz="1400" dirty="0"/>
              </a:p>
              <a:p>
                <a:pPr algn="ctr"/>
                <a:r>
                  <a:rPr lang="en-US" sz="1400" dirty="0" err="1"/>
                  <a:t>n</a:t>
                </a:r>
                <a:r>
                  <a:rPr lang="en-US" sz="1400" baseline="-25000" dirty="0" err="1"/>
                  <a:t>I</a:t>
                </a:r>
                <a:r>
                  <a:rPr lang="en-US" sz="1400" dirty="0"/>
                  <a:t>=179</a:t>
                </a:r>
              </a:p>
              <a:p>
                <a:pPr algn="ctr"/>
                <a:r>
                  <a:rPr lang="en-US" sz="1400" dirty="0" err="1"/>
                  <a:t>n</a:t>
                </a:r>
                <a:r>
                  <a:rPr lang="en-US" sz="1400" baseline="-25000" dirty="0" err="1"/>
                  <a:t>E</a:t>
                </a:r>
                <a:r>
                  <a:rPr lang="en-US" sz="1400" dirty="0"/>
                  <a:t>= </a:t>
                </a:r>
                <a:r>
                  <a:rPr lang="en-US" sz="1400" dirty="0" err="1"/>
                  <a:t>n</a:t>
                </a:r>
                <a:r>
                  <a:rPr lang="en-US" sz="1400" baseline="-25000" dirty="0" err="1"/>
                  <a:t>C</a:t>
                </a:r>
                <a:r>
                  <a:rPr lang="en-US" sz="1400" dirty="0"/>
                  <a:t> – </a:t>
                </a:r>
                <a:r>
                  <a:rPr lang="en-US" sz="1400" dirty="0" err="1"/>
                  <a:t>n</a:t>
                </a:r>
                <a:r>
                  <a:rPr lang="en-US" sz="1400" baseline="-25000" dirty="0" err="1"/>
                  <a:t>I</a:t>
                </a:r>
                <a:r>
                  <a:rPr lang="en-US" sz="1400" baseline="-25000" dirty="0"/>
                  <a:t> </a:t>
                </a:r>
                <a:r>
                  <a:rPr lang="en-US" sz="1400" dirty="0"/>
                  <a:t> – 1</a:t>
                </a:r>
              </a:p>
              <a:p>
                <a:pPr algn="ctr"/>
                <a:r>
                  <a:rPr lang="en-US" sz="1400" dirty="0" err="1"/>
                  <a:t>n</a:t>
                </a:r>
                <a:r>
                  <a:rPr lang="en-US" sz="1400" baseline="-25000" dirty="0" err="1"/>
                  <a:t>E</a:t>
                </a:r>
                <a:r>
                  <a:rPr lang="en-US" sz="1400" dirty="0"/>
                  <a:t>=320</a:t>
                </a:r>
                <a:endParaRPr lang="en-TR" sz="1400" dirty="0"/>
              </a:p>
            </p:txBody>
          </p:sp>
        </mc:Choice>
        <mc:Fallback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66A03FE-37E4-932D-5D3B-1247A9079BF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5880" y="1532322"/>
                <a:ext cx="2160240" cy="1374278"/>
              </a:xfrm>
              <a:prstGeom prst="rect">
                <a:avLst/>
              </a:prstGeom>
              <a:blipFill>
                <a:blip r:embed="rId3"/>
                <a:stretch>
                  <a:fillRect b="-4505"/>
                </a:stretch>
              </a:blipFill>
            </p:spPr>
            <p:txBody>
              <a:bodyPr/>
              <a:lstStyle/>
              <a:p>
                <a:r>
                  <a:rPr lang="en-T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3E2C9CB7-4702-7774-B5AD-80E9A95D8710}"/>
              </a:ext>
            </a:extLst>
          </p:cNvPr>
          <p:cNvSpPr txBox="1"/>
          <p:nvPr/>
        </p:nvSpPr>
        <p:spPr>
          <a:xfrm>
            <a:off x="4880918" y="3100994"/>
            <a:ext cx="21333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b="1" dirty="0"/>
              <a:t>Total flow rate </a:t>
            </a:r>
            <a:r>
              <a:rPr lang="en-TR" dirty="0"/>
              <a:t>: 100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2E9025-89B9-F742-04B3-5475CAD0F3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373" y="3645024"/>
            <a:ext cx="3018201" cy="193815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55722479-91A1-79D3-478F-DD5F9526081F}"/>
                  </a:ext>
                </a:extLst>
              </p:cNvPr>
              <p:cNvSpPr/>
              <p:nvPr/>
            </p:nvSpPr>
            <p:spPr>
              <a:xfrm>
                <a:off x="7770140" y="1628672"/>
                <a:ext cx="1619164" cy="1135602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400" dirty="0"/>
                  <a:t>t</a:t>
                </a:r>
                <a:r>
                  <a:rPr lang="en-TR" sz="1400" baseline="-25000" dirty="0"/>
                  <a:t>c</a:t>
                </a:r>
                <a:r>
                  <a:rPr lang="en-TR" sz="1400" dirty="0"/>
                  <a:t>= 56 s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400" dirty="0"/>
                  <a:t>t</a:t>
                </a:r>
                <a:r>
                  <a:rPr lang="en-TR" sz="1400" baseline="-25000" dirty="0"/>
                  <a:t>E</a:t>
                </a:r>
                <a:r>
                  <a:rPr lang="en-TR" sz="1400" dirty="0"/>
                  <a:t>= 25 s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TR" sz="1400" dirty="0"/>
                  <a:t>t</a:t>
                </a:r>
                <a:r>
                  <a:rPr lang="en-TR" sz="1400" baseline="-25000" dirty="0"/>
                  <a:t>I</a:t>
                </a:r>
                <a:r>
                  <a:rPr lang="en-TR" sz="1400" dirty="0"/>
                  <a:t>=</a:t>
                </a:r>
                <a:r>
                  <a:rPr lang="en-US" sz="1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400" dirty="0"/>
                  <a:t>t</a:t>
                </a:r>
                <a:r>
                  <a:rPr lang="en-TR" sz="1400" baseline="-25000" dirty="0"/>
                  <a:t>c</a:t>
                </a:r>
                <a:r>
                  <a:rPr lang="en-TR" sz="1400" dirty="0"/>
                  <a:t>-</a:t>
                </a:r>
                <a:r>
                  <a:rPr lang="en-US" sz="1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400" dirty="0"/>
                  <a:t>t</a:t>
                </a:r>
                <a:r>
                  <a:rPr lang="en-TR" sz="1400" baseline="-25000" dirty="0"/>
                  <a:t>E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TR" sz="1400" dirty="0"/>
                  <a:t>t</a:t>
                </a:r>
                <a:r>
                  <a:rPr lang="en-TR" sz="1400" baseline="-25000" dirty="0"/>
                  <a:t>I</a:t>
                </a:r>
                <a:r>
                  <a:rPr lang="en-TR" sz="1400" dirty="0"/>
                  <a:t>= 31 s</a:t>
                </a:r>
              </a:p>
            </p:txBody>
          </p:sp>
        </mc:Choice>
        <mc:Fallback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55722479-91A1-79D3-478F-DD5F9526081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0140" y="1628672"/>
                <a:ext cx="1619164" cy="113560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T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941B7E50-BC42-177D-F027-C4EA1C9F6462}"/>
                  </a:ext>
                </a:extLst>
              </p:cNvPr>
              <p:cNvSpPr/>
              <p:nvPr/>
            </p:nvSpPr>
            <p:spPr>
              <a:xfrm>
                <a:off x="9570340" y="1532322"/>
                <a:ext cx="2160240" cy="1374278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n</a:t>
                </a:r>
                <a:r>
                  <a:rPr lang="en-US" sz="1400" baseline="-25000" dirty="0" err="1"/>
                  <a:t>C</a:t>
                </a:r>
                <a:r>
                  <a:rPr lang="en-US" sz="1400" dirty="0"/>
                  <a:t>= 500</a:t>
                </a:r>
              </a:p>
              <a:p>
                <a:pPr algn="ctr"/>
                <a:r>
                  <a:rPr lang="en-US" sz="1400" dirty="0" err="1"/>
                  <a:t>n</a:t>
                </a:r>
                <a:r>
                  <a:rPr lang="en-US" sz="1400" baseline="-25000" dirty="0" err="1"/>
                  <a:t>I</a:t>
                </a:r>
                <a:r>
                  <a:rPr lang="en-US" sz="1400" dirty="0"/>
                  <a:t> =(n</a:t>
                </a:r>
                <a:r>
                  <a:rPr lang="en-US" sz="1400" baseline="-25000" dirty="0"/>
                  <a:t>C</a:t>
                </a:r>
                <a:r>
                  <a:rPr lang="en-US" sz="1400" dirty="0"/>
                  <a:t>-1)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tr-T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tr-TR" sz="1400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ctrlPr>
                              <a:rPr lang="tr-TR" sz="1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nor/>
                              </m:rPr>
                              <a:rPr lang="en-US" sz="1400" dirty="0"/>
                              <m:t>t</m:t>
                            </m:r>
                            <m:r>
                              <m:rPr>
                                <m:nor/>
                              </m:rPr>
                              <a:rPr lang="en-TR" sz="1400" baseline="-25000" dirty="0"/>
                              <m:t>E</m:t>
                            </m:r>
                          </m:num>
                          <m:den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nor/>
                              </m:rPr>
                              <a:rPr lang="en-TR" sz="1400" dirty="0"/>
                              <m:t>t</m:t>
                            </m:r>
                            <m:r>
                              <m:rPr>
                                <m:nor/>
                              </m:rPr>
                              <a:rPr lang="en-TR" sz="1400" baseline="-25000" dirty="0"/>
                              <m:t>I</m:t>
                            </m:r>
                          </m:den>
                        </m:f>
                      </m:den>
                    </m:f>
                  </m:oMath>
                </a14:m>
                <a:endParaRPr lang="en-TR" sz="1400" dirty="0"/>
              </a:p>
              <a:p>
                <a:pPr algn="ctr"/>
                <a:r>
                  <a:rPr lang="en-US" sz="1400" dirty="0" err="1"/>
                  <a:t>n</a:t>
                </a:r>
                <a:r>
                  <a:rPr lang="en-US" sz="1400" baseline="-25000" dirty="0" err="1"/>
                  <a:t>I</a:t>
                </a:r>
                <a:r>
                  <a:rPr lang="en-US" sz="1400" dirty="0"/>
                  <a:t>=275</a:t>
                </a:r>
              </a:p>
              <a:p>
                <a:pPr algn="ctr"/>
                <a:r>
                  <a:rPr lang="en-US" sz="1400" dirty="0" err="1"/>
                  <a:t>n</a:t>
                </a:r>
                <a:r>
                  <a:rPr lang="en-US" sz="1400" baseline="-25000" dirty="0" err="1"/>
                  <a:t>E</a:t>
                </a:r>
                <a:r>
                  <a:rPr lang="en-US" sz="1400" dirty="0"/>
                  <a:t>= </a:t>
                </a:r>
                <a:r>
                  <a:rPr lang="en-US" sz="1400" dirty="0" err="1"/>
                  <a:t>n</a:t>
                </a:r>
                <a:r>
                  <a:rPr lang="en-US" sz="1400" baseline="-25000" dirty="0" err="1"/>
                  <a:t>C</a:t>
                </a:r>
                <a:r>
                  <a:rPr lang="en-US" sz="1400" dirty="0"/>
                  <a:t> – </a:t>
                </a:r>
                <a:r>
                  <a:rPr lang="en-US" sz="1400" dirty="0" err="1"/>
                  <a:t>n</a:t>
                </a:r>
                <a:r>
                  <a:rPr lang="en-US" sz="1400" baseline="-25000" dirty="0" err="1"/>
                  <a:t>I</a:t>
                </a:r>
                <a:r>
                  <a:rPr lang="en-US" sz="1400" baseline="-25000" dirty="0"/>
                  <a:t> </a:t>
                </a:r>
                <a:r>
                  <a:rPr lang="en-US" sz="1400" dirty="0"/>
                  <a:t> – 1</a:t>
                </a:r>
              </a:p>
              <a:p>
                <a:pPr algn="ctr"/>
                <a:r>
                  <a:rPr lang="en-US" sz="1400" dirty="0" err="1"/>
                  <a:t>n</a:t>
                </a:r>
                <a:r>
                  <a:rPr lang="en-US" sz="1400" baseline="-25000" dirty="0" err="1"/>
                  <a:t>E</a:t>
                </a:r>
                <a:r>
                  <a:rPr lang="en-US" sz="1400" dirty="0"/>
                  <a:t>=224</a:t>
                </a:r>
                <a:endParaRPr lang="en-TR" sz="1400" dirty="0"/>
              </a:p>
            </p:txBody>
          </p:sp>
        </mc:Choice>
        <mc:Fallback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941B7E50-BC42-177D-F027-C4EA1C9F64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0340" y="1532322"/>
                <a:ext cx="2160240" cy="1374278"/>
              </a:xfrm>
              <a:prstGeom prst="rect">
                <a:avLst/>
              </a:prstGeom>
              <a:blipFill>
                <a:blip r:embed="rId6"/>
                <a:stretch>
                  <a:fillRect b="-4505"/>
                </a:stretch>
              </a:blipFill>
            </p:spPr>
            <p:txBody>
              <a:bodyPr/>
              <a:lstStyle/>
              <a:p>
                <a:r>
                  <a:rPr lang="en-T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7891804D-7931-671C-1951-9D5E287045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76328" y="3645024"/>
            <a:ext cx="3632419" cy="239739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C3D7788-4845-F3D5-8891-41C61D2F97F1}"/>
              </a:ext>
            </a:extLst>
          </p:cNvPr>
          <p:cNvSpPr txBox="1"/>
          <p:nvPr/>
        </p:nvSpPr>
        <p:spPr>
          <a:xfrm>
            <a:off x="7240078" y="2050184"/>
            <a:ext cx="4395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sz="1600" b="1" dirty="0">
                <a:solidFill>
                  <a:srgbClr val="FF0000"/>
                </a:solidFill>
              </a:rPr>
              <a:t>OR</a:t>
            </a:r>
            <a:endParaRPr lang="en-TR" b="1" dirty="0">
              <a:solidFill>
                <a:srgbClr val="FF0000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0A3A1C1-683A-1E5D-B1B4-BEFEA5290AD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763" y="5752602"/>
            <a:ext cx="2348474" cy="110381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C93ED97-F83C-431D-D13A-5C04E21E627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41593" y="3599691"/>
            <a:ext cx="3654360" cy="2345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0839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9C281DB-FF56-1B59-2C0A-7C9906BF4D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8088" y="1285268"/>
            <a:ext cx="4019004" cy="2586488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244AD9C0-29F4-53A6-3706-E18665647D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R" dirty="0"/>
              <a:t>4. RTD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66047C-8CC9-761B-43FA-324663BB81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400" y="1268760"/>
            <a:ext cx="3816424" cy="2602996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0924DFB-23D9-6AD8-93A0-D04B19C97F00}"/>
              </a:ext>
            </a:extLst>
          </p:cNvPr>
          <p:cNvCxnSpPr>
            <a:cxnSpLocks/>
          </p:cNvCxnSpPr>
          <p:nvPr/>
        </p:nvCxnSpPr>
        <p:spPr>
          <a:xfrm>
            <a:off x="4611061" y="2554426"/>
            <a:ext cx="22322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9AE4557E-1529-9A84-2813-47D51571DC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160" y="4221088"/>
            <a:ext cx="3600400" cy="232225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01FC4C7-366C-A325-5FD0-A6F3580BA2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7263" y="3908401"/>
            <a:ext cx="4019004" cy="2534151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404611B-D7C2-BC60-5DDC-260C31953171}"/>
              </a:ext>
            </a:extLst>
          </p:cNvPr>
          <p:cNvCxnSpPr>
            <a:cxnSpLocks/>
          </p:cNvCxnSpPr>
          <p:nvPr/>
        </p:nvCxnSpPr>
        <p:spPr>
          <a:xfrm>
            <a:off x="4755015" y="5085184"/>
            <a:ext cx="22322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65447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B5709-6AB4-87DF-83C5-7202B62C3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R" dirty="0"/>
              <a:t>Normalized RTD</a:t>
            </a:r>
          </a:p>
        </p:txBody>
      </p:sp>
      <p:pic>
        <p:nvPicPr>
          <p:cNvPr id="4" name="Content Placeholder 5">
            <a:extLst>
              <a:ext uri="{FF2B5EF4-FFF2-40B4-BE49-F238E27FC236}">
                <a16:creationId xmlns:a16="http://schemas.microsoft.com/office/drawing/2014/main" id="{0ACC3F1E-9718-8360-A706-751A7D036B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392" y="1556792"/>
            <a:ext cx="3177820" cy="2101733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2E5B146-BFBD-5F45-66AC-E431403F066D}"/>
              </a:ext>
            </a:extLst>
          </p:cNvPr>
          <p:cNvSpPr txBox="1"/>
          <p:nvPr/>
        </p:nvSpPr>
        <p:spPr>
          <a:xfrm>
            <a:off x="695400" y="1149579"/>
            <a:ext cx="763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b="1" dirty="0">
                <a:solidFill>
                  <a:srgbClr val="DF6D07"/>
                </a:solidFill>
              </a:rPr>
              <a:t>- 1st :</a:t>
            </a:r>
            <a:r>
              <a:rPr lang="en-TR" dirty="0"/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8E4221D-8591-A88B-EF3E-40655B43DE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7808" y="1574208"/>
            <a:ext cx="3111227" cy="210173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16F2E5-6E51-87E0-0D04-8A820678BC03}"/>
              </a:ext>
            </a:extLst>
          </p:cNvPr>
          <p:cNvSpPr txBox="1"/>
          <p:nvPr/>
        </p:nvSpPr>
        <p:spPr>
          <a:xfrm>
            <a:off x="4402811" y="1158667"/>
            <a:ext cx="8418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b="1" dirty="0">
                <a:solidFill>
                  <a:srgbClr val="DF6D07"/>
                </a:solidFill>
              </a:rPr>
              <a:t>- 2nd :</a:t>
            </a:r>
            <a:r>
              <a:rPr lang="en-TR" dirty="0"/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321812-1BF4-C190-F2E7-DB14B8F06570}"/>
              </a:ext>
            </a:extLst>
          </p:cNvPr>
          <p:cNvSpPr txBox="1"/>
          <p:nvPr/>
        </p:nvSpPr>
        <p:spPr>
          <a:xfrm>
            <a:off x="7767178" y="1187460"/>
            <a:ext cx="798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b="1" dirty="0">
                <a:solidFill>
                  <a:srgbClr val="DF6D07"/>
                </a:solidFill>
              </a:rPr>
              <a:t>- 4th :</a:t>
            </a:r>
            <a:r>
              <a:rPr lang="en-TR" dirty="0"/>
              <a:t>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334222-1181-F9B8-A846-BBDB0F4382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0445" y="1518911"/>
            <a:ext cx="3177820" cy="213536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EBCE7FF-E185-8D77-E783-4E87BBA788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5127" y="4023652"/>
            <a:ext cx="3755318" cy="2520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3851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>
          <a:xfrm>
            <a:off x="-240704" y="2348880"/>
            <a:ext cx="12192000" cy="1440160"/>
          </a:xfrm>
        </p:spPr>
        <p:txBody>
          <a:bodyPr/>
          <a:lstStyle/>
          <a:p>
            <a:r>
              <a:rPr lang="en-US" dirty="0"/>
              <a:t>Parameter Variation</a:t>
            </a:r>
          </a:p>
        </p:txBody>
      </p:sp>
    </p:spTree>
    <p:extLst>
      <p:ext uri="{BB962C8B-B14F-4D97-AF65-F5344CB8AC3E}">
        <p14:creationId xmlns:p14="http://schemas.microsoft.com/office/powerpoint/2010/main" val="31107941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Epoch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CBC184-8B01-4240-B2B1-07B98CE8FE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1864" y="1161990"/>
            <a:ext cx="5684168" cy="24074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6DF39C-E2F9-279D-690C-8EA3E79B54BB}"/>
              </a:ext>
            </a:extLst>
          </p:cNvPr>
          <p:cNvSpPr txBox="1"/>
          <p:nvPr/>
        </p:nvSpPr>
        <p:spPr>
          <a:xfrm>
            <a:off x="1041991" y="1488558"/>
            <a:ext cx="233589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S_233 = 10 (epoch)</a:t>
            </a:r>
          </a:p>
          <a:p>
            <a:r>
              <a:rPr lang="en-US" dirty="0"/>
              <a:t>S_234 = 100 (epoch)</a:t>
            </a:r>
            <a:endParaRPr lang="en-TR" dirty="0"/>
          </a:p>
          <a:p>
            <a:r>
              <a:rPr lang="en-US" dirty="0"/>
              <a:t>S_235 = 1000 (epoch)</a:t>
            </a:r>
            <a:endParaRPr lang="en-TR" dirty="0"/>
          </a:p>
          <a:p>
            <a:r>
              <a:rPr lang="en-US" dirty="0"/>
              <a:t>S_236 = 10000 (epoch)</a:t>
            </a:r>
            <a:endParaRPr lang="en-TR" dirty="0"/>
          </a:p>
          <a:p>
            <a:r>
              <a:rPr lang="en-US" dirty="0"/>
              <a:t>S_237 = 15000 (epoch)</a:t>
            </a:r>
            <a:endParaRPr lang="en-TR" dirty="0"/>
          </a:p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511D3FC-F1C0-474E-FC34-C8720C16D2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5600" y="3579533"/>
            <a:ext cx="6404248" cy="3089768"/>
          </a:xfrm>
          <a:prstGeom prst="rect">
            <a:avLst/>
          </a:prstGeom>
        </p:spPr>
      </p:pic>
      <p:sp>
        <p:nvSpPr>
          <p:cNvPr id="9" name="Arc 8">
            <a:extLst>
              <a:ext uri="{FF2B5EF4-FFF2-40B4-BE49-F238E27FC236}">
                <a16:creationId xmlns:a16="http://schemas.microsoft.com/office/drawing/2014/main" id="{A93498AB-8326-DED0-BCD9-08C786DCB45F}"/>
              </a:ext>
            </a:extLst>
          </p:cNvPr>
          <p:cNvSpPr/>
          <p:nvPr/>
        </p:nvSpPr>
        <p:spPr>
          <a:xfrm flipH="1" flipV="1">
            <a:off x="3395951" y="3771632"/>
            <a:ext cx="7776864" cy="2307273"/>
          </a:xfrm>
          <a:prstGeom prst="arc">
            <a:avLst>
              <a:gd name="adj1" fmla="val 15815890"/>
              <a:gd name="adj2" fmla="val 21083614"/>
            </a:avLst>
          </a:prstGeom>
          <a:noFill/>
          <a:ln w="412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TR"/>
          </a:p>
        </p:txBody>
      </p:sp>
    </p:spTree>
    <p:extLst>
      <p:ext uri="{BB962C8B-B14F-4D97-AF65-F5344CB8AC3E}">
        <p14:creationId xmlns:p14="http://schemas.microsoft.com/office/powerpoint/2010/main" val="90307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F08CC-F122-BD7E-1640-34C2A1900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R" dirty="0"/>
              <a:t>Learning Rate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1177438-7F2B-D795-A9E5-FFBD02F67B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504" y="2492896"/>
            <a:ext cx="8712968" cy="42472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83C8FD7-6987-191F-B0DA-906120CCAA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4460" y="1016680"/>
            <a:ext cx="5583079" cy="269442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76E0D89-B1B8-3064-81ED-55566EBAEC3F}"/>
              </a:ext>
            </a:extLst>
          </p:cNvPr>
          <p:cNvSpPr txBox="1"/>
          <p:nvPr/>
        </p:nvSpPr>
        <p:spPr>
          <a:xfrm>
            <a:off x="9483116" y="1098887"/>
            <a:ext cx="2154757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dirty="0"/>
              <a:t>S_93 = 10 (LR)</a:t>
            </a:r>
          </a:p>
          <a:p>
            <a:r>
              <a:rPr lang="en-TR" dirty="0"/>
              <a:t>S_77 = 1 (LR)</a:t>
            </a:r>
          </a:p>
          <a:p>
            <a:r>
              <a:rPr lang="en-TR" dirty="0"/>
              <a:t>S_79= 0.1 (LR)</a:t>
            </a:r>
          </a:p>
          <a:p>
            <a:r>
              <a:rPr lang="en-TR" dirty="0"/>
              <a:t>S_82 = 0.01 (LR)</a:t>
            </a:r>
          </a:p>
          <a:p>
            <a:r>
              <a:rPr lang="en-TR" dirty="0"/>
              <a:t>S_84 = 0.001 (LR)</a:t>
            </a:r>
          </a:p>
          <a:p>
            <a:r>
              <a:rPr lang="en-TR" dirty="0"/>
              <a:t>S_86 = 0.0001 (LR)</a:t>
            </a:r>
          </a:p>
          <a:p>
            <a:r>
              <a:rPr lang="en-TR" dirty="0"/>
              <a:t>S_88 = 0.00001 (LR)</a:t>
            </a:r>
          </a:p>
          <a:p>
            <a:r>
              <a:rPr lang="en-TR" dirty="0"/>
              <a:t>S_90 = 0.000001 (LR)</a:t>
            </a:r>
          </a:p>
          <a:p>
            <a:endParaRPr lang="en-TR" dirty="0"/>
          </a:p>
        </p:txBody>
      </p:sp>
    </p:spTree>
    <p:extLst>
      <p:ext uri="{BB962C8B-B14F-4D97-AF65-F5344CB8AC3E}">
        <p14:creationId xmlns:p14="http://schemas.microsoft.com/office/powerpoint/2010/main" val="40822226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010FE-FF51-87BF-25B5-29FDF9076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R" dirty="0"/>
              <a:t>Kernel size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FDEB32-7E30-6E52-ABAB-80A453D957A2}"/>
              </a:ext>
            </a:extLst>
          </p:cNvPr>
          <p:cNvSpPr txBox="1"/>
          <p:nvPr/>
        </p:nvSpPr>
        <p:spPr>
          <a:xfrm>
            <a:off x="695400" y="1268760"/>
            <a:ext cx="169424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  <a:r>
              <a:rPr lang="en-TR" dirty="0"/>
              <a:t>_102= 122 (KS)</a:t>
            </a:r>
          </a:p>
          <a:p>
            <a:r>
              <a:rPr lang="en-US" dirty="0"/>
              <a:t>S</a:t>
            </a:r>
            <a:r>
              <a:rPr lang="en-TR" dirty="0"/>
              <a:t>_104= 70 (KS)</a:t>
            </a:r>
          </a:p>
          <a:p>
            <a:r>
              <a:rPr lang="en-US" dirty="0"/>
              <a:t>S</a:t>
            </a:r>
            <a:r>
              <a:rPr lang="en-TR" dirty="0"/>
              <a:t>_105= 50 (KS)</a:t>
            </a:r>
          </a:p>
          <a:p>
            <a:r>
              <a:rPr lang="en-US" dirty="0"/>
              <a:t>S</a:t>
            </a:r>
            <a:r>
              <a:rPr lang="en-TR" dirty="0"/>
              <a:t>_106= 20 (KS)</a:t>
            </a:r>
          </a:p>
          <a:p>
            <a:r>
              <a:rPr lang="en-US" dirty="0"/>
              <a:t>S</a:t>
            </a:r>
            <a:r>
              <a:rPr lang="en-TR" dirty="0"/>
              <a:t>_107= 10 (KS)</a:t>
            </a:r>
          </a:p>
          <a:p>
            <a:endParaRPr lang="en-TR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B51FC68-C956-B6D4-657F-C96565B003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5560" y="2780928"/>
            <a:ext cx="8099912" cy="389707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353757B-2A8B-CFF8-E71A-40F2851BF3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3692" y="548680"/>
            <a:ext cx="6168008" cy="2955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24832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50421C3-BB8D-BF0B-773A-2C17FA6BB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384" y="908720"/>
            <a:ext cx="3384376" cy="22820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CA818B0-A1D8-E71F-4EE2-2B6132A7B2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5916" y="964301"/>
            <a:ext cx="3400167" cy="222650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C812437-B507-40AF-C7DD-12F4FB532C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9199" y="964301"/>
            <a:ext cx="3601417" cy="228208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2DF5BC3-6A8E-C807-34C8-B8775BE6D159}"/>
              </a:ext>
            </a:extLst>
          </p:cNvPr>
          <p:cNvSpPr txBox="1"/>
          <p:nvPr/>
        </p:nvSpPr>
        <p:spPr>
          <a:xfrm>
            <a:off x="551384" y="539388"/>
            <a:ext cx="763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b="1" dirty="0">
                <a:solidFill>
                  <a:srgbClr val="DF6D07"/>
                </a:solidFill>
              </a:rPr>
              <a:t>- 1st :</a:t>
            </a:r>
            <a:r>
              <a:rPr lang="en-TR" dirty="0"/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CF0EEB9-D753-C41B-C2ED-44C57ED918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384" y="3861048"/>
            <a:ext cx="3384376" cy="228208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7137CC5-C715-4A96-5607-0A5B2FD93E59}"/>
              </a:ext>
            </a:extLst>
          </p:cNvPr>
          <p:cNvSpPr txBox="1"/>
          <p:nvPr/>
        </p:nvSpPr>
        <p:spPr>
          <a:xfrm>
            <a:off x="604231" y="3421375"/>
            <a:ext cx="8418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b="1" dirty="0">
                <a:solidFill>
                  <a:srgbClr val="DF6D07"/>
                </a:solidFill>
              </a:rPr>
              <a:t>- 2nd :</a:t>
            </a:r>
            <a:r>
              <a:rPr lang="en-TR" dirty="0"/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2CD12EF-B53C-C8DA-CFF4-BED9DFF6CE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5916" y="3861048"/>
            <a:ext cx="3553753" cy="234547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D9F82B5-A0F2-A96C-E9F1-1A483FC1A2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88538" y="3924439"/>
            <a:ext cx="3502737" cy="2282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877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1D924C-6956-E11E-D78D-84028D249FA8}"/>
              </a:ext>
            </a:extLst>
          </p:cNvPr>
          <p:cNvSpPr txBox="1"/>
          <p:nvPr/>
        </p:nvSpPr>
        <p:spPr>
          <a:xfrm>
            <a:off x="335360" y="1124744"/>
            <a:ext cx="7973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b="1" dirty="0">
                <a:solidFill>
                  <a:srgbClr val="DF6D07"/>
                </a:solidFill>
              </a:rPr>
              <a:t>- 3rd :</a:t>
            </a:r>
            <a:r>
              <a:rPr lang="en-TR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2AD52D-3D94-A034-DBE1-9E7DAA04F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360" y="1561690"/>
            <a:ext cx="2909529" cy="18673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8352677-4D77-6EF7-25DE-8A41B9AF0E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5760" y="1481567"/>
            <a:ext cx="3312368" cy="213172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64F1BEC-7EED-936D-BB56-E8847DC205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8168" y="1469870"/>
            <a:ext cx="3600400" cy="2270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9426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 you !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14E2BA-9102-9177-3A35-38DB529BAB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TR"/>
          </a:p>
        </p:txBody>
      </p:sp>
    </p:spTree>
    <p:extLst>
      <p:ext uri="{BB962C8B-B14F-4D97-AF65-F5344CB8AC3E}">
        <p14:creationId xmlns:p14="http://schemas.microsoft.com/office/powerpoint/2010/main" val="41739712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792CF-BD85-F2F5-FA3D-1D28D1585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R" dirty="0"/>
              <a:t>Appendix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83195013-7832-9E7E-8971-40E4ECF333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9094" y="2164556"/>
            <a:ext cx="4737100" cy="3060700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39297A9-B035-82F7-0919-942A48C8C5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6160" y="2197883"/>
            <a:ext cx="3848100" cy="3479800"/>
          </a:xfrm>
        </p:spPr>
      </p:pic>
    </p:spTree>
    <p:extLst>
      <p:ext uri="{BB962C8B-B14F-4D97-AF65-F5344CB8AC3E}">
        <p14:creationId xmlns:p14="http://schemas.microsoft.com/office/powerpoint/2010/main" val="16648377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06,4179"/>
  <p:tag name="ORIGINALWIDTH" val="1453,926"/>
  <p:tag name="LATEXADDIN" val="\documentclass{article}&#10;\usepackage{amsmath}&#10;\pagestyle{empty}&#10;\begin{document}&#10;&#10;$&#10;\frac{\partial c_\mathrm{i}}{\partial t} = &#10;- \frac{\partial}{\partial z}u\,c_\mathrm{i}&#10;+ D_\mathrm{ax}\frac{\partial^2 c_\mathrm{i}}{\partial z^2}&#10;+ \sum\limits_\mathrm{j}\nu_\mathrm{ij}r_\mathrm{j}&#10;$&#10;&#10;&#10;\end{document}"/>
  <p:tag name="IGUANATEXSIZE" val="20"/>
  <p:tag name="IGUANATEXCURSOR" val="234"/>
</p:tagLst>
</file>

<file path=ppt/theme/theme1.xml><?xml version="1.0" encoding="utf-8"?>
<a:theme xmlns:a="http://schemas.openxmlformats.org/drawingml/2006/main" name="Larissa">
  <a:themeElements>
    <a:clrScheme name="Benutzerdefiniert 1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7D9AAA"/>
      </a:accent1>
      <a:accent2>
        <a:srgbClr val="A9A28D"/>
      </a:accent2>
      <a:accent3>
        <a:srgbClr val="DF6D07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1" id="{E7293D8D-23E4-4682-94BD-B51C6C1AE10E}" vid="{F659027A-40BB-468E-82F1-3B1DF99A9B58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Larissa</Template>
  <TotalTime>4810</TotalTime>
  <Words>606</Words>
  <Application>Microsoft Macintosh PowerPoint</Application>
  <PresentationFormat>Widescreen</PresentationFormat>
  <Paragraphs>124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Arial</vt:lpstr>
      <vt:lpstr>Calibri</vt:lpstr>
      <vt:lpstr>Cambria Math</vt:lpstr>
      <vt:lpstr>Symbol</vt:lpstr>
      <vt:lpstr>Times</vt:lpstr>
      <vt:lpstr>Larissa</vt:lpstr>
      <vt:lpstr>Machine Learning Approach for Predicting Residence Time Distribution Functions In A Plug Flow Reactor</vt:lpstr>
      <vt:lpstr>Experimental Set-up</vt:lpstr>
      <vt:lpstr>1. RTD </vt:lpstr>
      <vt:lpstr>Question:</vt:lpstr>
      <vt:lpstr>PowerPoint Presentation</vt:lpstr>
      <vt:lpstr>2. RTD</vt:lpstr>
      <vt:lpstr>2. RTD</vt:lpstr>
      <vt:lpstr>2. RTD</vt:lpstr>
      <vt:lpstr>4. RTD</vt:lpstr>
      <vt:lpstr>4. RTD</vt:lpstr>
      <vt:lpstr>Normalized RTD</vt:lpstr>
      <vt:lpstr>Parameter Variation</vt:lpstr>
      <vt:lpstr>Epoch </vt:lpstr>
      <vt:lpstr>Learning Rate</vt:lpstr>
      <vt:lpstr>Kernel size</vt:lpstr>
      <vt:lpstr>PowerPoint Presentation</vt:lpstr>
      <vt:lpstr>PowerPoint Presentation</vt:lpstr>
      <vt:lpstr>Thank you !</vt:lpstr>
      <vt:lpstr>Appendix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Tuana Oyuncu</dc:creator>
  <cp:lastModifiedBy>Tuana Oyuncu</cp:lastModifiedBy>
  <cp:revision>6</cp:revision>
  <cp:lastPrinted>2015-02-13T10:13:39Z</cp:lastPrinted>
  <dcterms:created xsi:type="dcterms:W3CDTF">2024-04-19T14:43:05Z</dcterms:created>
  <dcterms:modified xsi:type="dcterms:W3CDTF">2024-04-22T23:01:59Z</dcterms:modified>
</cp:coreProperties>
</file>
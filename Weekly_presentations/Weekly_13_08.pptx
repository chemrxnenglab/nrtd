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76" r:id="rId10"/>
    <p:sldId id="274" r:id="rId11"/>
    <p:sldId id="281" r:id="rId12"/>
    <p:sldId id="258" r:id="rId13"/>
  </p:sldIdLst>
  <p:sldSz cx="12192000" cy="6858000"/>
  <p:notesSz cx="6797675" cy="985678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6D07"/>
    <a:srgbClr val="FF8C49"/>
    <a:srgbClr val="00B050"/>
    <a:srgbClr val="575756"/>
    <a:srgbClr val="C1FABE"/>
    <a:srgbClr val="FF9F9D"/>
    <a:srgbClr val="FFFBB6"/>
    <a:srgbClr val="FFFFFF"/>
    <a:srgbClr val="333333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5703" autoAdjust="0"/>
  </p:normalViewPr>
  <p:slideViewPr>
    <p:cSldViewPr>
      <p:cViewPr>
        <p:scale>
          <a:sx n="103" d="100"/>
          <a:sy n="103" d="100"/>
        </p:scale>
        <p:origin x="840" y="6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2D906-12E9-42EA-8A02-A1A7582BC19D}" type="datetimeFigureOut">
              <a:rPr lang="de-DE" smtClean="0"/>
              <a:t>29.07.24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39775"/>
            <a:ext cx="6569075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1974"/>
            <a:ext cx="5438140" cy="44355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362238"/>
            <a:ext cx="2945659" cy="492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3BD42-9C78-4E0C-AEAC-2DC2060B56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9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tiff"/><Relationship Id="rId10" Type="http://schemas.openxmlformats.org/officeDocument/2006/relationships/image" Target="../media/image8.emf"/><Relationship Id="rId4" Type="http://schemas.openxmlformats.org/officeDocument/2006/relationships/image" Target="../media/image2.png"/><Relationship Id="rId9" Type="http://schemas.openxmlformats.org/officeDocument/2006/relationships/image" Target="../media/image7.tiff"/><Relationship Id="rId14" Type="http://schemas.openxmlformats.org/officeDocument/2006/relationships/image" Target="../media/image1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133999"/>
            <a:ext cx="6528048" cy="3332800"/>
          </a:xfrm>
        </p:spPr>
        <p:txBody>
          <a:bodyPr anchor="ctr"/>
          <a:lstStyle>
            <a:lvl1pPr>
              <a:defRPr lang="de-DE" sz="2800" kern="1200">
                <a:solidFill>
                  <a:srgbClr val="DF6D07"/>
                </a:solidFill>
                <a:latin typeface="Arial" charset="0"/>
                <a:ea typeface="ＭＳ Ｐゴシック" charset="0"/>
                <a:cs typeface="+mn-c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493853"/>
            <a:ext cx="6528048" cy="144000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de-DE" sz="2000" kern="1200" smtClean="0">
                <a:solidFill>
                  <a:srgbClr val="575756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938A86B-3E09-4560-BF95-5ACF3C5FEC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54000"/>
            <a:ext cx="3804035" cy="10800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1ED4453-6D94-47FE-91F1-82B7443D8BC5}"/>
              </a:ext>
            </a:extLst>
          </p:cNvPr>
          <p:cNvGrpSpPr/>
          <p:nvPr userDrawn="1"/>
        </p:nvGrpSpPr>
        <p:grpSpPr>
          <a:xfrm>
            <a:off x="0" y="3947414"/>
            <a:ext cx="5663952" cy="1929858"/>
            <a:chOff x="0" y="4950000"/>
            <a:chExt cx="5663952" cy="1929858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A63DA0AD-E536-428B-959F-0EF52B3BB110}"/>
                </a:ext>
              </a:extLst>
            </p:cNvPr>
            <p:cNvSpPr/>
            <p:nvPr userDrawn="1"/>
          </p:nvSpPr>
          <p:spPr>
            <a:xfrm>
              <a:off x="0" y="4950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multi-phase reactions &amp; reactors</a:t>
              </a:r>
            </a:p>
          </p:txBody>
        </p:sp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46AC0206-E656-4BAD-9CEA-7021AF68E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89999"/>
              <a:ext cx="3145630" cy="1368001"/>
            </a:xfrm>
            <a:prstGeom prst="rect">
              <a:avLst/>
            </a:prstGeom>
          </p:spPr>
        </p:pic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A1B1F893-6F0B-43EB-B4FA-3EBF7B4F2A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82787" y="5490000"/>
              <a:ext cx="2581165" cy="1389858"/>
            </a:xfrm>
            <a:prstGeom prst="rect">
              <a:avLst/>
            </a:prstGeom>
          </p:spPr>
        </p:pic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37F7BF5-7E60-40E7-9FF3-9161852A5F08}"/>
              </a:ext>
            </a:extLst>
          </p:cNvPr>
          <p:cNvGrpSpPr/>
          <p:nvPr userDrawn="1"/>
        </p:nvGrpSpPr>
        <p:grpSpPr>
          <a:xfrm>
            <a:off x="0" y="-4148"/>
            <a:ext cx="5663952" cy="1929858"/>
            <a:chOff x="0" y="1134000"/>
            <a:chExt cx="5663952" cy="1929858"/>
          </a:xfrm>
        </p:grpSpPr>
        <p:pic>
          <p:nvPicPr>
            <p:cNvPr id="32" name="Grafik 31" descr="Ein Bild, das Essen enthält.&#10;&#10;Automatisch generierte Beschreibung">
              <a:extLst>
                <a:ext uri="{FF2B5EF4-FFF2-40B4-BE49-F238E27FC236}">
                  <a16:creationId xmlns:a16="http://schemas.microsoft.com/office/drawing/2014/main" id="{98C24E7E-85D2-4352-A382-CF78CC2C7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73" t="13580" r="21356" b="17998"/>
            <a:stretch/>
          </p:blipFill>
          <p:spPr>
            <a:xfrm>
              <a:off x="1518782" y="1665514"/>
              <a:ext cx="1389857" cy="1389857"/>
            </a:xfrm>
            <a:prstGeom prst="rect">
              <a:avLst/>
            </a:prstGeom>
          </p:spPr>
        </p:pic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EFD4168-01B7-46E4-A6FE-1409051501AB}"/>
                </a:ext>
              </a:extLst>
            </p:cNvPr>
            <p:cNvSpPr/>
            <p:nvPr userDrawn="1"/>
          </p:nvSpPr>
          <p:spPr>
            <a:xfrm>
              <a:off x="0" y="1134000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nanostructured, bi-functional catalysts</a:t>
              </a:r>
            </a:p>
          </p:txBody>
        </p: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E84DDBC3-7915-453A-9721-5D7E1362EF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2291" t="1484" r="2291" b="2744"/>
            <a:stretch/>
          </p:blipFill>
          <p:spPr>
            <a:xfrm>
              <a:off x="1379" y="1674000"/>
              <a:ext cx="1597210" cy="1384249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CD88957F-9011-4DD3-804F-C8064FC2BFC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469" t="2332" r="2469" b="4979"/>
            <a:stretch/>
          </p:blipFill>
          <p:spPr>
            <a:xfrm>
              <a:off x="4081952" y="1679609"/>
              <a:ext cx="1581999" cy="1384249"/>
            </a:xfrm>
            <a:prstGeom prst="rect">
              <a:avLst/>
            </a:prstGeom>
          </p:spPr>
        </p:pic>
        <p:pic>
          <p:nvPicPr>
            <p:cNvPr id="33" name="Grafik 32" descr="Ein Bild, das Schrank enthält.&#10;&#10;Automatisch generierte Beschreibung">
              <a:extLst>
                <a:ext uri="{FF2B5EF4-FFF2-40B4-BE49-F238E27FC236}">
                  <a16:creationId xmlns:a16="http://schemas.microsoft.com/office/drawing/2014/main" id="{40E5B97F-B135-4CBE-B7FD-19C1979790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4401" y="1676618"/>
              <a:ext cx="1257549" cy="1381631"/>
            </a:xfrm>
            <a:prstGeom prst="rect">
              <a:avLst/>
            </a:prstGeom>
          </p:spPr>
        </p:pic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6AD956C-3F8B-4D2F-9EB6-3ACA924B76A7}"/>
              </a:ext>
            </a:extLst>
          </p:cNvPr>
          <p:cNvGrpSpPr/>
          <p:nvPr userDrawn="1"/>
        </p:nvGrpSpPr>
        <p:grpSpPr>
          <a:xfrm>
            <a:off x="-1" y="1988840"/>
            <a:ext cx="5663953" cy="1897071"/>
            <a:chOff x="-1" y="3063858"/>
            <a:chExt cx="5663953" cy="1897071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1613DFCC-B54F-47FA-88AC-803735AE6E53}"/>
                </a:ext>
              </a:extLst>
            </p:cNvPr>
            <p:cNvSpPr/>
            <p:nvPr userDrawn="1"/>
          </p:nvSpPr>
          <p:spPr>
            <a:xfrm>
              <a:off x="0" y="3063858"/>
              <a:ext cx="5663952" cy="540000"/>
            </a:xfrm>
            <a:prstGeom prst="rect">
              <a:avLst/>
            </a:prstGeom>
            <a:solidFill>
              <a:srgbClr val="5757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dynamic reactor operation</a:t>
              </a:r>
            </a:p>
          </p:txBody>
        </p: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FBDDA22F-D654-4537-8713-E4FD596930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4322889" y="3610929"/>
              <a:ext cx="1341062" cy="1332000"/>
            </a:xfrm>
            <a:prstGeom prst="rect">
              <a:avLst/>
            </a:prstGeom>
          </p:spPr>
        </p:pic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AFD360D7-B06A-4A7E-80C4-F91DCCC8077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t="9371" b="6808"/>
            <a:stretch/>
          </p:blipFill>
          <p:spPr>
            <a:xfrm>
              <a:off x="1391894" y="3608223"/>
              <a:ext cx="1780388" cy="1319919"/>
            </a:xfrm>
            <a:prstGeom prst="rect">
              <a:avLst/>
            </a:prstGeom>
          </p:spPr>
        </p:pic>
        <p:pic>
          <p:nvPicPr>
            <p:cNvPr id="55" name="Grafik 54">
              <a:extLst>
                <a:ext uri="{FF2B5EF4-FFF2-40B4-BE49-F238E27FC236}">
                  <a16:creationId xmlns:a16="http://schemas.microsoft.com/office/drawing/2014/main" id="{EA539917-AF59-4973-8F95-0FA488F45F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00" t="10502" r="6668" b="28620"/>
            <a:stretch/>
          </p:blipFill>
          <p:spPr>
            <a:xfrm>
              <a:off x="3323378" y="3592929"/>
              <a:ext cx="896586" cy="1368000"/>
            </a:xfrm>
            <a:prstGeom prst="rect">
              <a:avLst/>
            </a:prstGeom>
          </p:spPr>
        </p:pic>
        <p:pic>
          <p:nvPicPr>
            <p:cNvPr id="56" name="Grafik 55">
              <a:extLst>
                <a:ext uri="{FF2B5EF4-FFF2-40B4-BE49-F238E27FC236}">
                  <a16:creationId xmlns:a16="http://schemas.microsoft.com/office/drawing/2014/main" id="{7B073412-E121-4EB9-A73B-8AC753EB83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3610929"/>
              <a:ext cx="1332000" cy="1332000"/>
            </a:xfrm>
            <a:prstGeom prst="rect">
              <a:avLst/>
            </a:prstGeom>
          </p:spPr>
        </p:pic>
        <p:pic>
          <p:nvPicPr>
            <p:cNvPr id="57" name="Grafik 56">
              <a:extLst>
                <a:ext uri="{FF2B5EF4-FFF2-40B4-BE49-F238E27FC236}">
                  <a16:creationId xmlns:a16="http://schemas.microsoft.com/office/drawing/2014/main" id="{3AB5D57D-DAB7-4ED2-AE96-BC2918DA35F5}"/>
                </a:ext>
              </a:extLst>
            </p:cNvPr>
            <p:cNvPicPr>
              <a:picLocks noChangeAspect="1"/>
            </p:cNvPicPr>
            <p:nvPr userDrawn="1">
              <p:custDataLst>
                <p:tags r:id="rId1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689" y="3660441"/>
              <a:ext cx="2880000" cy="410992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</p:spPr>
        </p:pic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D2DACA63-E712-4A97-948C-A159116D5958}"/>
              </a:ext>
            </a:extLst>
          </p:cNvPr>
          <p:cNvSpPr/>
          <p:nvPr userDrawn="1"/>
        </p:nvSpPr>
        <p:spPr>
          <a:xfrm>
            <a:off x="0" y="5960907"/>
            <a:ext cx="12192001" cy="900000"/>
          </a:xfrm>
          <a:prstGeom prst="rect">
            <a:avLst/>
          </a:prstGeom>
          <a:solidFill>
            <a:srgbClr val="5757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Master Thesis  |  Institute of Chemical Engineering  |  Ulm University</a:t>
            </a:r>
          </a:p>
        </p:txBody>
      </p:sp>
    </p:spTree>
    <p:extLst>
      <p:ext uri="{BB962C8B-B14F-4D97-AF65-F5344CB8AC3E}">
        <p14:creationId xmlns:p14="http://schemas.microsoft.com/office/powerpoint/2010/main" val="94042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DF6D07"/>
              </a:buClr>
              <a:defRPr/>
            </a:lvl1pPr>
            <a:lvl2pPr>
              <a:buClr>
                <a:srgbClr val="DF6D07"/>
              </a:buClr>
              <a:defRPr/>
            </a:lvl2pPr>
            <a:lvl3pPr>
              <a:buClr>
                <a:srgbClr val="DF6D07"/>
              </a:buClr>
              <a:defRPr/>
            </a:lvl3pPr>
            <a:lvl4pPr>
              <a:buClr>
                <a:srgbClr val="DF6D07"/>
              </a:buClr>
              <a:defRPr/>
            </a:lvl4pPr>
            <a:lvl5pPr>
              <a:buClr>
                <a:srgbClr val="DF6D07"/>
              </a:buClr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27448" y="212727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Mater Thesis|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B78706-6FB0-41BA-A68C-672E2B168A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25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2716669"/>
            <a:ext cx="12192000" cy="1440160"/>
          </a:xfrm>
        </p:spPr>
        <p:txBody>
          <a:bodyPr anchor="ctr"/>
          <a:lstStyle>
            <a:lvl1pPr algn="ctr">
              <a:defRPr sz="2800">
                <a:solidFill>
                  <a:srgbClr val="DF6D07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Line 20"/>
          <p:cNvSpPr>
            <a:spLocks noChangeShapeType="1"/>
          </p:cNvSpPr>
          <p:nvPr userDrawn="1"/>
        </p:nvSpPr>
        <p:spPr bwMode="auto">
          <a:xfrm>
            <a:off x="0" y="182563"/>
            <a:ext cx="11268000" cy="0"/>
          </a:xfrm>
          <a:prstGeom prst="line">
            <a:avLst/>
          </a:prstGeom>
          <a:noFill/>
          <a:ln w="9525">
            <a:solidFill>
              <a:srgbClr val="DF6D0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800"/>
          </a:p>
        </p:txBody>
      </p:sp>
      <p:sp>
        <p:nvSpPr>
          <p:cNvPr id="8" name="Rectangle 24"/>
          <p:cNvSpPr>
            <a:spLocks noChangeArrowheads="1"/>
          </p:cNvSpPr>
          <p:nvPr userDrawn="1"/>
        </p:nvSpPr>
        <p:spPr bwMode="auto">
          <a:xfrm>
            <a:off x="0" y="179389"/>
            <a:ext cx="958851" cy="179387"/>
          </a:xfrm>
          <a:prstGeom prst="rect">
            <a:avLst/>
          </a:prstGeom>
          <a:solidFill>
            <a:srgbClr val="DF6D07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de-DE" sz="1800">
              <a:solidFill>
                <a:srgbClr val="BD4505"/>
              </a:solidFill>
              <a:latin typeface="Times" charset="0"/>
            </a:endParaRPr>
          </a:p>
        </p:txBody>
      </p:sp>
      <p:sp>
        <p:nvSpPr>
          <p:cNvPr id="9" name="Text Box 23"/>
          <p:cNvSpPr txBox="1">
            <a:spLocks noChangeArrowheads="1"/>
          </p:cNvSpPr>
          <p:nvPr userDrawn="1"/>
        </p:nvSpPr>
        <p:spPr bwMode="auto">
          <a:xfrm>
            <a:off x="1195917" y="198438"/>
            <a:ext cx="804968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1000" noProof="0" dirty="0">
                <a:solidFill>
                  <a:srgbClr val="DF6D07"/>
                </a:solidFill>
              </a:rPr>
              <a:t>Research Internship | Institute of Chemical Engineering</a:t>
            </a:r>
            <a:endParaRPr lang="en-US" sz="1000" b="1" noProof="0" dirty="0">
              <a:solidFill>
                <a:srgbClr val="DF6D07"/>
              </a:solidFill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 userDrawn="1"/>
        </p:nvSpPr>
        <p:spPr bwMode="auto">
          <a:xfrm>
            <a:off x="239184" y="192088"/>
            <a:ext cx="753533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1000" dirty="0">
                <a:solidFill>
                  <a:schemeClr val="bg1"/>
                </a:solidFill>
              </a:rPr>
              <a:t>Slide </a:t>
            </a:r>
            <a:fld id="{72B15E79-9594-554D-993D-A2428A8EC461}" type="slidenum">
              <a:rPr lang="de-DE" sz="1000">
                <a:solidFill>
                  <a:schemeClr val="bg1"/>
                </a:solidFill>
              </a:rPr>
              <a:pPr>
                <a:spcBef>
                  <a:spcPct val="50000"/>
                </a:spcBef>
              </a:pPr>
              <a:t>‹#›</a:t>
            </a:fld>
            <a:endParaRPr lang="de-DE" sz="1000" dirty="0">
              <a:solidFill>
                <a:schemeClr val="bg1"/>
              </a:solidFill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0C7FA73-13A2-46CB-B457-48AF3A5E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000" y="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49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23392" y="476672"/>
            <a:ext cx="11568608" cy="57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 fontAlgn="base">
              <a:spcAft>
                <a:spcPct val="0"/>
              </a:spcAft>
            </a:pPr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3392" y="1052672"/>
            <a:ext cx="11568608" cy="53985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23390" y="6492876"/>
            <a:ext cx="115686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033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lang="de-DE" sz="2400" b="0" kern="1200" dirty="0" smtClean="0">
          <a:solidFill>
            <a:srgbClr val="DF6D07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</p:titleStyle>
    <p:bodyStyle>
      <a:lvl1pPr marL="268288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36575" indent="-268288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DF6D07"/>
        </a:buClr>
        <a:buFont typeface="Symbol" pitchFamily="18" charset="2"/>
        <a:buChar char="-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663952" y="1484784"/>
            <a:ext cx="6528048" cy="3332800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Deconvolution of RTD for compartment models via CNNs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663952" y="4293096"/>
            <a:ext cx="6528048" cy="1620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Tuana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Oyuncu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06/08/2024</a:t>
            </a:r>
          </a:p>
        </p:txBody>
      </p:sp>
    </p:spTree>
    <p:extLst>
      <p:ext uri="{BB962C8B-B14F-4D97-AF65-F5344CB8AC3E}">
        <p14:creationId xmlns:p14="http://schemas.microsoft.com/office/powerpoint/2010/main" val="2346681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E625-BAD0-E2D9-7FFC-C67FD4CC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The Convection Model For Laminar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DD5D2-E5FB-C082-C91A-B592F6A2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76" y="1451845"/>
            <a:ext cx="5015436" cy="158417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34A8CE-8317-0C4C-636E-568F504C2D9D}"/>
              </a:ext>
            </a:extLst>
          </p:cNvPr>
          <p:cNvCxnSpPr/>
          <p:nvPr/>
        </p:nvCxnSpPr>
        <p:spPr>
          <a:xfrm>
            <a:off x="5541052" y="2243933"/>
            <a:ext cx="1656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7EFBD05-891B-7C32-D9FB-E665E58993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8" t="4401" r="57411"/>
          <a:stretch/>
        </p:blipFill>
        <p:spPr>
          <a:xfrm>
            <a:off x="7968208" y="707474"/>
            <a:ext cx="3024336" cy="1811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9E6814-6A7A-E917-342C-2415AE40AA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707" t="4401" r="8309"/>
          <a:stretch/>
        </p:blipFill>
        <p:spPr>
          <a:xfrm>
            <a:off x="8004212" y="2765402"/>
            <a:ext cx="2952328" cy="181160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12B8CF5-524F-AF0B-0ADA-7158EE0D231C}"/>
              </a:ext>
            </a:extLst>
          </p:cNvPr>
          <p:cNvSpPr/>
          <p:nvPr/>
        </p:nvSpPr>
        <p:spPr>
          <a:xfrm>
            <a:off x="7752184" y="422276"/>
            <a:ext cx="3600400" cy="2381996"/>
          </a:xfrm>
          <a:prstGeom prst="ellipse">
            <a:avLst/>
          </a:prstGeom>
          <a:noFill/>
          <a:ln>
            <a:solidFill>
              <a:srgbClr val="DF6D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DDAA0D-9023-932A-0088-4B20D215536E}"/>
              </a:ext>
            </a:extLst>
          </p:cNvPr>
          <p:cNvSpPr/>
          <p:nvPr/>
        </p:nvSpPr>
        <p:spPr>
          <a:xfrm>
            <a:off x="356476" y="1451845"/>
            <a:ext cx="1548172" cy="792088"/>
          </a:xfrm>
          <a:prstGeom prst="rect">
            <a:avLst/>
          </a:prstGeom>
          <a:noFill/>
          <a:ln>
            <a:solidFill>
              <a:srgbClr val="DF6D0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B8AF61-45D8-A962-E2DD-097F37F8FF97}"/>
              </a:ext>
            </a:extLst>
          </p:cNvPr>
          <p:cNvGrpSpPr/>
          <p:nvPr/>
        </p:nvGrpSpPr>
        <p:grpSpPr>
          <a:xfrm>
            <a:off x="479376" y="3062733"/>
            <a:ext cx="1636020" cy="369332"/>
            <a:chOff x="479375" y="3584350"/>
            <a:chExt cx="1636020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498C48-A833-3343-602F-1E03994E83F2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13" name="Striped Right Arrow 12">
              <a:extLst>
                <a:ext uri="{FF2B5EF4-FFF2-40B4-BE49-F238E27FC236}">
                  <a16:creationId xmlns:a16="http://schemas.microsoft.com/office/drawing/2014/main" id="{40EDC0E7-6808-6780-E571-8A55570216A7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D0ADD23-78F0-3CE5-0FFD-1466E20CEACF}"/>
              </a:ext>
            </a:extLst>
          </p:cNvPr>
          <p:cNvSpPr txBox="1"/>
          <p:nvPr/>
        </p:nvSpPr>
        <p:spPr>
          <a:xfrm>
            <a:off x="356476" y="3511997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dirty="0"/>
              <a:t>- Low Re for the tubes, model suggests flow for narrow pipes or channels with low 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F7D7B7-B45C-151E-1936-F55E2553F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20" y="4435327"/>
            <a:ext cx="3258639" cy="20247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B00D8E-464E-6EBE-AC5E-E3FEDE133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1251" y="2643991"/>
            <a:ext cx="2906518" cy="421400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5D3B37-F29C-6429-B454-5538FD9047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2082" y="4580550"/>
            <a:ext cx="3884600" cy="64467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033EC8-F820-63DC-45C9-BEACAEB4E0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4298" y="5387774"/>
            <a:ext cx="1512156" cy="131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3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9EAE-5868-689D-5160-595E6731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Dispersion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87277-D3A4-5893-7864-23C7515A8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772816"/>
            <a:ext cx="3886200" cy="1054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BF67D6-1FB6-A9BD-8A1F-7B3829ABFF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65" b="12289"/>
          <a:stretch/>
        </p:blipFill>
        <p:spPr>
          <a:xfrm>
            <a:off x="4727848" y="954708"/>
            <a:ext cx="6192688" cy="374441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2BDD8F6-8408-473B-162F-1C475660C2B6}"/>
              </a:ext>
            </a:extLst>
          </p:cNvPr>
          <p:cNvGrpSpPr/>
          <p:nvPr/>
        </p:nvGrpSpPr>
        <p:grpSpPr>
          <a:xfrm>
            <a:off x="603356" y="3244334"/>
            <a:ext cx="1636020" cy="369332"/>
            <a:chOff x="479375" y="3584350"/>
            <a:chExt cx="1636020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7B4332-2F95-943F-CE13-03B9332F91D6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8" name="Striped Right Arrow 7">
              <a:extLst>
                <a:ext uri="{FF2B5EF4-FFF2-40B4-BE49-F238E27FC236}">
                  <a16:creationId xmlns:a16="http://schemas.microsoft.com/office/drawing/2014/main" id="{52AD9C5D-B149-1D55-6DA9-0D1BB9535CD8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31E751-15CE-4C3C-D33A-BB9EFFDBE243}"/>
              </a:ext>
            </a:extLst>
          </p:cNvPr>
          <p:cNvSpPr txBox="1"/>
          <p:nvPr/>
        </p:nvSpPr>
        <p:spPr>
          <a:xfrm>
            <a:off x="352901" y="3846418"/>
            <a:ext cx="464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Slow rise might be the reason of the dispersion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1445CA-E2AB-B115-E36B-C9A2C93A7C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56" y="4448502"/>
            <a:ext cx="3258639" cy="202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4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CA16-77D6-8234-F97F-6EC09049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Cholete and Clautier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507E6E-179E-668F-4681-5BCB7202A9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30" t="10050" r="16618"/>
          <a:stretch/>
        </p:blipFill>
        <p:spPr>
          <a:xfrm>
            <a:off x="463166" y="1229183"/>
            <a:ext cx="2448272" cy="2121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5A36E1-1C13-504A-CC23-A838F4A22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438" y="1335872"/>
            <a:ext cx="6040014" cy="100566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9FA499E-558D-F41D-23EB-55D07B9EFE67}"/>
              </a:ext>
            </a:extLst>
          </p:cNvPr>
          <p:cNvGrpSpPr/>
          <p:nvPr/>
        </p:nvGrpSpPr>
        <p:grpSpPr>
          <a:xfrm>
            <a:off x="623392" y="3853261"/>
            <a:ext cx="1636020" cy="369332"/>
            <a:chOff x="479375" y="3584350"/>
            <a:chExt cx="1636020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1A904D-5D26-4D64-EABD-8C133D65CAC0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8" name="Striped Right Arrow 7">
              <a:extLst>
                <a:ext uri="{FF2B5EF4-FFF2-40B4-BE49-F238E27FC236}">
                  <a16:creationId xmlns:a16="http://schemas.microsoft.com/office/drawing/2014/main" id="{2092F311-6AD2-FCF9-4062-E819FE7A84DB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F305AA-12D9-4487-1EEB-5E2D9F580B08}"/>
              </a:ext>
            </a:extLst>
          </p:cNvPr>
          <p:cNvSpPr txBox="1"/>
          <p:nvPr/>
        </p:nvSpPr>
        <p:spPr>
          <a:xfrm>
            <a:off x="479376" y="4469975"/>
            <a:ext cx="6133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Since the model considers dead zone and bypass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fit well if the system has a delayed response and dispersion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5FDB8-279D-ECFE-5E1C-7E1FBEEF41CB}"/>
              </a:ext>
            </a:extLst>
          </p:cNvPr>
          <p:cNvSpPr txBox="1"/>
          <p:nvPr/>
        </p:nvSpPr>
        <p:spPr>
          <a:xfrm>
            <a:off x="458195" y="5150705"/>
            <a:ext cx="5760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TR" dirty="0"/>
              <a:t>au = 10-15 s (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be estimated from the time it takes for the output concentration to reach a steady state)</a:t>
            </a:r>
            <a:endParaRPr lang="en-TR" dirty="0"/>
          </a:p>
          <a:p>
            <a:r>
              <a:rPr lang="tr-TR" dirty="0"/>
              <a:t>Alfa (bypass) </a:t>
            </a:r>
            <a:r>
              <a:rPr lang="tr-TR" dirty="0" err="1"/>
              <a:t>and</a:t>
            </a:r>
            <a:r>
              <a:rPr lang="tr-TR" dirty="0"/>
              <a:t> Beta (</a:t>
            </a:r>
            <a:r>
              <a:rPr lang="tr-TR" dirty="0" err="1"/>
              <a:t>dead</a:t>
            </a:r>
            <a:r>
              <a:rPr lang="tr-TR" dirty="0"/>
              <a:t> </a:t>
            </a:r>
            <a:r>
              <a:rPr lang="tr-TR" dirty="0" err="1"/>
              <a:t>zone</a:t>
            </a:r>
            <a:r>
              <a:rPr lang="tr-TR" dirty="0"/>
              <a:t>)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fractions</a:t>
            </a:r>
            <a:r>
              <a:rPr lang="tr-TR" dirty="0"/>
              <a:t> </a:t>
            </a:r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they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be in 0-1 </a:t>
            </a:r>
            <a:r>
              <a:rPr lang="tr-TR" dirty="0" err="1"/>
              <a:t>range</a:t>
            </a:r>
            <a:endParaRPr lang="en-T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CE75D5-DD53-FC89-64BB-1011E7DFA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785742" y="2217071"/>
            <a:ext cx="3803598" cy="46576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993237-EFB5-5E19-D16F-5634CC4FF9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549" y="2605124"/>
            <a:ext cx="2239932" cy="13765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5CECF7A-863C-D07A-F64B-A1CB6B3500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821" y="2588916"/>
            <a:ext cx="2240746" cy="137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33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E6D8C-63AB-D0DF-9AB4-FAE2658A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Plug Flow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F0B22-BD71-4B82-BFC9-33504D9BC9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89" b="11965"/>
          <a:stretch/>
        </p:blipFill>
        <p:spPr>
          <a:xfrm>
            <a:off x="335360" y="1196752"/>
            <a:ext cx="4417925" cy="1146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91C23D-75E1-CBDD-6C23-104419A3AC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70" b="17846"/>
          <a:stretch/>
        </p:blipFill>
        <p:spPr>
          <a:xfrm>
            <a:off x="4990445" y="1430859"/>
            <a:ext cx="4896544" cy="88192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3DB9F36-21AC-4478-580F-530C59958483}"/>
              </a:ext>
            </a:extLst>
          </p:cNvPr>
          <p:cNvGrpSpPr/>
          <p:nvPr/>
        </p:nvGrpSpPr>
        <p:grpSpPr>
          <a:xfrm>
            <a:off x="605050" y="3244334"/>
            <a:ext cx="1636020" cy="369332"/>
            <a:chOff x="479375" y="3584350"/>
            <a:chExt cx="1636020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ABF154-6A9C-4650-04BC-23219763D8F3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8" name="Striped Right Arrow 7">
              <a:extLst>
                <a:ext uri="{FF2B5EF4-FFF2-40B4-BE49-F238E27FC236}">
                  <a16:creationId xmlns:a16="http://schemas.microsoft.com/office/drawing/2014/main" id="{AA109FA8-50F4-A218-D2C3-E448B011A21E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8744460-3C2C-7167-431C-7C04ECAC1F4E}"/>
              </a:ext>
            </a:extLst>
          </p:cNvPr>
          <p:cNvSpPr txBox="1"/>
          <p:nvPr/>
        </p:nvSpPr>
        <p:spPr>
          <a:xfrm>
            <a:off x="493314" y="3713453"/>
            <a:ext cx="10203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Plug flow tends to have a sharp response but recycle introduces oscillation in RTD</a:t>
            </a:r>
          </a:p>
          <a:p>
            <a:r>
              <a:rPr lang="en-US" dirty="0"/>
              <a:t>T</a:t>
            </a:r>
            <a:r>
              <a:rPr lang="en-TR" dirty="0"/>
              <a:t>au = 10-15 s (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be estimated from the time it takes for the output concentration to reach a steady state)</a:t>
            </a:r>
            <a:endParaRPr lang="en-TR" dirty="0"/>
          </a:p>
          <a:p>
            <a:r>
              <a:rPr lang="en-TR" dirty="0"/>
              <a:t>R should be in the range of 0-1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955D21-157F-17F6-FAF5-B596AC767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264" y="4429458"/>
            <a:ext cx="3251070" cy="199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45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042F-838D-C6AD-117C-AB2A8164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Tank in series with recycle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93A331-7521-93A3-93A0-948D2BCB8B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23" r="9236" b="9613"/>
          <a:stretch/>
        </p:blipFill>
        <p:spPr>
          <a:xfrm>
            <a:off x="5087888" y="1318517"/>
            <a:ext cx="4913156" cy="972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052B86-3A99-C201-61A4-DCA0BB7F5F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21" r="5704"/>
          <a:stretch/>
        </p:blipFill>
        <p:spPr>
          <a:xfrm>
            <a:off x="623392" y="980728"/>
            <a:ext cx="3700666" cy="20693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959490-83DB-A3E5-6C71-C694270C7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777" y="2556405"/>
            <a:ext cx="1675377" cy="101661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E0E337A-723E-D3E5-7956-E38DBDA0C928}"/>
              </a:ext>
            </a:extLst>
          </p:cNvPr>
          <p:cNvGrpSpPr/>
          <p:nvPr/>
        </p:nvGrpSpPr>
        <p:grpSpPr>
          <a:xfrm>
            <a:off x="623392" y="3525673"/>
            <a:ext cx="1636020" cy="369332"/>
            <a:chOff x="479375" y="3584350"/>
            <a:chExt cx="163602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4A2E06-4CA1-1B10-81BD-8F4E7B8C09AA}"/>
                </a:ext>
              </a:extLst>
            </p:cNvPr>
            <p:cNvSpPr txBox="1"/>
            <p:nvPr/>
          </p:nvSpPr>
          <p:spPr>
            <a:xfrm>
              <a:off x="1145449" y="3584350"/>
              <a:ext cx="969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R" b="1" dirty="0">
                  <a:solidFill>
                    <a:srgbClr val="DF6D07"/>
                  </a:solidFill>
                </a:rPr>
                <a:t>Reasons</a:t>
              </a:r>
            </a:p>
          </p:txBody>
        </p:sp>
        <p:sp>
          <p:nvSpPr>
            <p:cNvPr id="9" name="Striped Right Arrow 8">
              <a:extLst>
                <a:ext uri="{FF2B5EF4-FFF2-40B4-BE49-F238E27FC236}">
                  <a16:creationId xmlns:a16="http://schemas.microsoft.com/office/drawing/2014/main" id="{E712E39B-5511-D11F-0B43-7707FEB8660F}"/>
                </a:ext>
              </a:extLst>
            </p:cNvPr>
            <p:cNvSpPr/>
            <p:nvPr/>
          </p:nvSpPr>
          <p:spPr>
            <a:xfrm>
              <a:off x="479375" y="3637570"/>
              <a:ext cx="540060" cy="262892"/>
            </a:xfrm>
            <a:prstGeom prst="stripedRightArrow">
              <a:avLst/>
            </a:prstGeom>
            <a:noFill/>
            <a:ln>
              <a:solidFill>
                <a:srgbClr val="DF6D0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0D923B3-67AB-4695-25E8-929D3E1AE810}"/>
              </a:ext>
            </a:extLst>
          </p:cNvPr>
          <p:cNvSpPr txBox="1"/>
          <p:nvPr/>
        </p:nvSpPr>
        <p:spPr>
          <a:xfrm>
            <a:off x="479376" y="4077072"/>
            <a:ext cx="54905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TR" dirty="0"/>
              <a:t>Each tank represents a stage where mixing occurs before the substance moves to the next stage. This creates a cumulative delay effect, loading to a gradual increase in the output concentration. Each oscillation represents a cycle through the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81CAC1-E66F-B22B-D56C-F85E13065325}"/>
              </a:ext>
            </a:extLst>
          </p:cNvPr>
          <p:cNvSpPr txBox="1"/>
          <p:nvPr/>
        </p:nvSpPr>
        <p:spPr>
          <a:xfrm>
            <a:off x="469883" y="5734997"/>
            <a:ext cx="5821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TR" dirty="0"/>
              <a:t>au = 10-15 s (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can be estimated from the time it takes for</a:t>
            </a:r>
          </a:p>
          <a:p>
            <a:r>
              <a:rPr lang="en-US" dirty="0">
                <a:solidFill>
                  <a:srgbClr val="000000"/>
                </a:solidFill>
                <a:latin typeface="-webkit-standard"/>
              </a:rPr>
              <a:t>Beta and R is a fraction so they should be in the range of 0-1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90434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E16F-4F12-8752-8300-0DB6F74B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The unified time delay model</a:t>
            </a:r>
            <a:br>
              <a:rPr lang="en-TR" dirty="0"/>
            </a:br>
            <a:endParaRPr lang="en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A6049-E2B6-0998-8301-587D2D3361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77"/>
          <a:stretch/>
        </p:blipFill>
        <p:spPr>
          <a:xfrm>
            <a:off x="623392" y="1184981"/>
            <a:ext cx="4872319" cy="1617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683F28-ABD9-B339-C503-D626F40A4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485" y="728544"/>
            <a:ext cx="4008222" cy="912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BA4758-6493-DD5F-9C73-19E6E9146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016" y="1596661"/>
            <a:ext cx="4680520" cy="5932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58EE3-898E-90B4-5996-F08B35335934}"/>
              </a:ext>
            </a:extLst>
          </p:cNvPr>
          <p:cNvSpPr txBox="1"/>
          <p:nvPr/>
        </p:nvSpPr>
        <p:spPr>
          <a:xfrm>
            <a:off x="7104112" y="2549239"/>
            <a:ext cx="259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Inverse L</a:t>
            </a:r>
            <a:r>
              <a:rPr lang="en-US" dirty="0"/>
              <a:t>a</a:t>
            </a:r>
            <a:r>
              <a:rPr lang="en-TR" dirty="0"/>
              <a:t>place transform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6E3668-0102-CD3E-DF27-C4B6956B85AA}"/>
              </a:ext>
            </a:extLst>
          </p:cNvPr>
          <p:cNvSpPr/>
          <p:nvPr/>
        </p:nvSpPr>
        <p:spPr>
          <a:xfrm>
            <a:off x="6926060" y="2409869"/>
            <a:ext cx="2952328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809A51-5B02-9BEA-3F6A-F5B21C342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976" y="3480635"/>
            <a:ext cx="4038600" cy="2374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935610-0769-93BB-517A-70EA6B76BAFF}"/>
              </a:ext>
            </a:extLst>
          </p:cNvPr>
          <p:cNvSpPr txBox="1"/>
          <p:nvPr/>
        </p:nvSpPr>
        <p:spPr>
          <a:xfrm>
            <a:off x="10789227" y="2272240"/>
            <a:ext cx="779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R" dirty="0"/>
              <a:t>J=2</a:t>
            </a:r>
          </a:p>
          <a:p>
            <a:pPr algn="ctr"/>
            <a:r>
              <a:rPr lang="en-US" dirty="0"/>
              <a:t>T</a:t>
            </a:r>
            <a:r>
              <a:rPr lang="en-TR" dirty="0"/>
              <a:t>au=1</a:t>
            </a:r>
          </a:p>
          <a:p>
            <a:pPr algn="ctr"/>
            <a:r>
              <a:rPr lang="en-US" dirty="0"/>
              <a:t>A</a:t>
            </a:r>
            <a:r>
              <a:rPr lang="en-TR" dirty="0"/>
              <a:t>lfa=1</a:t>
            </a:r>
          </a:p>
        </p:txBody>
      </p:sp>
    </p:spTree>
    <p:extLst>
      <p:ext uri="{BB962C8B-B14F-4D97-AF65-F5344CB8AC3E}">
        <p14:creationId xmlns:p14="http://schemas.microsoft.com/office/powerpoint/2010/main" val="3209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37A5-1155-082B-D4B7-337E4237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Adler and Hovorka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F54747-89E5-17B2-2E12-45929424E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484784"/>
            <a:ext cx="3949204" cy="2155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2530B-8A90-1F37-25EE-ACAA10FC4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959" y="1280831"/>
            <a:ext cx="4438314" cy="152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9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53FF4-DD90-EBA7-897A-A0C210F6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Tank in series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A37FF1-91E7-4171-6BB7-5155A90A497F}"/>
              </a:ext>
            </a:extLst>
          </p:cNvPr>
          <p:cNvGrpSpPr/>
          <p:nvPr/>
        </p:nvGrpSpPr>
        <p:grpSpPr>
          <a:xfrm>
            <a:off x="0" y="1052672"/>
            <a:ext cx="7601334" cy="3665435"/>
            <a:chOff x="1235460" y="1052672"/>
            <a:chExt cx="7601334" cy="366543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4034AE4-15F5-DDE2-AACF-137AD5372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3672" y="1052672"/>
              <a:ext cx="5693122" cy="366543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DD2DFE8-2C21-5F8B-86E2-C0EE066A38FE}"/>
                </a:ext>
              </a:extLst>
            </p:cNvPr>
            <p:cNvSpPr txBox="1"/>
            <p:nvPr/>
          </p:nvSpPr>
          <p:spPr>
            <a:xfrm>
              <a:off x="1235460" y="2519957"/>
              <a:ext cx="129614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TR" dirty="0"/>
                <a:t>Mean residence time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1157F46-9CAD-3142-F9C4-80B87E1080FD}"/>
                </a:ext>
              </a:extLst>
            </p:cNvPr>
            <p:cNvCxnSpPr/>
            <p:nvPr/>
          </p:nvCxnSpPr>
          <p:spPr>
            <a:xfrm flipH="1">
              <a:off x="2567608" y="2863387"/>
              <a:ext cx="32403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FB32F79-4BE6-4BBE-2183-EEA19728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2634828"/>
            <a:ext cx="59182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10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1008EA-7BC3-C0B0-F035-6954B2A1F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51" y="1154357"/>
            <a:ext cx="5987515" cy="292685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84F840-37B7-8A46-C0FB-14EDD185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687248"/>
            <a:ext cx="11568608" cy="576000"/>
          </a:xfrm>
        </p:spPr>
        <p:txBody>
          <a:bodyPr/>
          <a:lstStyle/>
          <a:p>
            <a:r>
              <a:rPr lang="en-TR" dirty="0"/>
              <a:t>Study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6A96EC-03F3-1FB8-193B-A3391F18D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3529"/>
            <a:ext cx="5125101" cy="32995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68CD88-0590-82AB-49E9-7BB98EFBFF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8983" y="3943982"/>
            <a:ext cx="4710410" cy="29268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D7822F-6A3E-B2BA-470C-EE42E94885B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2"/>
          <a:stretch/>
        </p:blipFill>
        <p:spPr>
          <a:xfrm>
            <a:off x="4132746" y="4021614"/>
            <a:ext cx="3960440" cy="27074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5F96BF-23D3-82D4-478C-08128D2342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546" y="4021614"/>
            <a:ext cx="4337429" cy="283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62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1167-CD00-BD64-3F17-52967670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Ganttchart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9A45B3-FFC9-7CD9-0515-012ADB59D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4" y="2317965"/>
            <a:ext cx="11568112" cy="2222069"/>
          </a:xfrm>
        </p:spPr>
      </p:pic>
    </p:spTree>
    <p:extLst>
      <p:ext uri="{BB962C8B-B14F-4D97-AF65-F5344CB8AC3E}">
        <p14:creationId xmlns:p14="http://schemas.microsoft.com/office/powerpoint/2010/main" val="1016162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5663952" y="1268760"/>
            <a:ext cx="6528048" cy="3332800"/>
          </a:xfrm>
        </p:spPr>
        <p:txBody>
          <a:bodyPr/>
          <a:lstStyle/>
          <a:p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b="1" dirty="0">
                <a:effectLst/>
                <a:latin typeface="TimesNewRomanPSMT"/>
              </a:rPr>
              <a:t>THANK YOU!</a:t>
            </a:r>
            <a:br>
              <a:rPr lang="en-US" sz="1800" dirty="0">
                <a:effectLst/>
                <a:latin typeface="TimesNewRomanPSMT"/>
              </a:rPr>
            </a:br>
            <a:br>
              <a:rPr lang="en-US" sz="1800" dirty="0">
                <a:effectLst/>
                <a:latin typeface="TimesNewRomanPSMT"/>
              </a:rPr>
            </a:br>
            <a:r>
              <a:rPr lang="en-US" sz="1800" dirty="0">
                <a:effectLst/>
                <a:latin typeface="TimesNewRomanPSMT"/>
              </a:rPr>
              <a:t>I would like to thank Prof. Dr.-Ing. Robert </a:t>
            </a:r>
            <a:r>
              <a:rPr lang="en-US" sz="1800" dirty="0" err="1">
                <a:effectLst/>
                <a:latin typeface="TimesNewRomanPSMT"/>
              </a:rPr>
              <a:t>Güttel</a:t>
            </a:r>
            <a:r>
              <a:rPr lang="en-US" sz="1800" dirty="0">
                <a:effectLst/>
                <a:latin typeface="TimesNewRomanPSMT"/>
              </a:rPr>
              <a:t>, M.Sc. Hannes </a:t>
            </a:r>
            <a:r>
              <a:rPr lang="en-US" sz="1800" dirty="0" err="1">
                <a:effectLst/>
                <a:latin typeface="TimesNewRomanPSMT"/>
              </a:rPr>
              <a:t>Stagge</a:t>
            </a:r>
            <a:r>
              <a:rPr lang="en-US" sz="1800" dirty="0">
                <a:effectLst/>
                <a:latin typeface="TimesNewRomanPSMT"/>
              </a:rPr>
              <a:t> and M.Sc. Max </a:t>
            </a:r>
            <a:r>
              <a:rPr lang="en-US" sz="1800" dirty="0" err="1">
                <a:effectLst/>
                <a:latin typeface="TimesNewRomanPSMT"/>
              </a:rPr>
              <a:t>Gäßler</a:t>
            </a:r>
            <a:r>
              <a:rPr lang="en-US" sz="1800" dirty="0">
                <a:effectLst/>
                <a:latin typeface="TimesNewRomanPSMT"/>
              </a:rPr>
              <a:t> for their guidance and support.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971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6,4179"/>
  <p:tag name="ORIGINALWIDTH" val="1453,926"/>
  <p:tag name="LATEXADDIN" val="\documentclass{article}&#10;\usepackage{amsmath}&#10;\pagestyle{empty}&#10;\begin{document}&#10;&#10;$&#10;\frac{\partial c_\mathrm{i}}{\partial t} = &#10;- \frac{\partial}{\partial z}u\,c_\mathrm{i}&#10;+ D_\mathrm{ax}\frac{\partial^2 c_\mathrm{i}}{\partial z^2}&#10;+ \sum\limits_\mathrm{j}\nu_\mathrm{ij}r_\mathrm{j}&#10;$&#10;&#10;&#10;\end{document}"/>
  <p:tag name="IGUANATEXSIZE" val="20"/>
  <p:tag name="IGUANATEXCURSOR" val="234"/>
</p:tagLst>
</file>

<file path=ppt/theme/theme1.xml><?xml version="1.0" encoding="utf-8"?>
<a:theme xmlns:a="http://schemas.openxmlformats.org/drawingml/2006/main" name="Larissa">
  <a:themeElements>
    <a:clrScheme name="Benutzerdefiniert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D9AAA"/>
      </a:accent1>
      <a:accent2>
        <a:srgbClr val="A9A28D"/>
      </a:accent2>
      <a:accent3>
        <a:srgbClr val="DF6D07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E7293D8D-23E4-4682-94BD-B51C6C1AE10E}" vid="{F659027A-40BB-468E-82F1-3B1DF99A9B5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Larissa</Template>
  <TotalTime>29149</TotalTime>
  <Words>321</Words>
  <Application>Microsoft Macintosh PowerPoint</Application>
  <PresentationFormat>Widescreen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-webkit-standard</vt:lpstr>
      <vt:lpstr>Arial</vt:lpstr>
      <vt:lpstr>Calibri</vt:lpstr>
      <vt:lpstr>Symbol</vt:lpstr>
      <vt:lpstr>Times</vt:lpstr>
      <vt:lpstr>TimesNewRomanPSMT</vt:lpstr>
      <vt:lpstr>Larissa</vt:lpstr>
      <vt:lpstr>Deconvolution of RTD for compartment models via CNNs</vt:lpstr>
      <vt:lpstr>The Convection Model For Laminar Flow</vt:lpstr>
      <vt:lpstr>Dispersion Model</vt:lpstr>
      <vt:lpstr>Cholete and Clautier</vt:lpstr>
      <vt:lpstr>Plug Flow with Recycle</vt:lpstr>
      <vt:lpstr>Tank in series with recycle</vt:lpstr>
      <vt:lpstr>The unified time delay model </vt:lpstr>
      <vt:lpstr>Adler and Hovorka</vt:lpstr>
      <vt:lpstr>Tank in series</vt:lpstr>
      <vt:lpstr>Study </vt:lpstr>
      <vt:lpstr>Ganttchart</vt:lpstr>
      <vt:lpstr>  THANK YOU!  I would like to thank Prof. Dr.-Ing. Robert Güttel, M.Sc. Hannes Stagge and M.Sc. Max Gäßler for their guidance and support.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Residence Time Distribution Analysis via Convolutional Neural Networks: A Promising Approach </dc:title>
  <dc:creator>Tuana Oyuncu</dc:creator>
  <cp:lastModifiedBy>Tuana Oyuncu</cp:lastModifiedBy>
  <cp:revision>22</cp:revision>
  <cp:lastPrinted>2015-02-13T10:13:39Z</cp:lastPrinted>
  <dcterms:created xsi:type="dcterms:W3CDTF">2024-06-29T12:46:34Z</dcterms:created>
  <dcterms:modified xsi:type="dcterms:W3CDTF">2024-08-08T06:42:41Z</dcterms:modified>
</cp:coreProperties>
</file>
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76" r:id="rId9"/>
    <p:sldId id="274" r:id="rId10"/>
    <p:sldId id="281" r:id="rId11"/>
    <p:sldId id="258" r:id="rId12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FF8C49"/>
    <a:srgbClr val="00B050"/>
    <a:srgbClr val="575756"/>
    <a:srgbClr val="C1FABE"/>
    <a:srgbClr val="FF9F9D"/>
    <a:srgbClr val="FFFBB6"/>
    <a:srgbClr val="FFFFFF"/>
    <a:srgbClr val="33333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5703" autoAdjust="0"/>
  </p:normalViewPr>
  <p:slideViewPr>
    <p:cSldViewPr>
      <p:cViewPr>
        <p:scale>
          <a:sx n="103" d="100"/>
          <a:sy n="103" d="100"/>
        </p:scale>
        <p:origin x="840" y="5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Master Thesis  |  Institute of Chemical Engineering  | 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27448" y="212727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Mater Thesis|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484784"/>
            <a:ext cx="6528048" cy="333280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Deconvolution of RTD for compartment models via CNNs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Tuana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Oyuncu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06/08/2024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E625-BAD0-E2D9-7FFC-C67FD4CC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Convection Model For Laminar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DD5D2-E5FB-C082-C91A-B592F6A2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6" y="1451845"/>
            <a:ext cx="5015436" cy="15841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34A8CE-8317-0C4C-636E-568F504C2D9D}"/>
              </a:ext>
            </a:extLst>
          </p:cNvPr>
          <p:cNvCxnSpPr/>
          <p:nvPr/>
        </p:nvCxnSpPr>
        <p:spPr>
          <a:xfrm>
            <a:off x="5541052" y="2243933"/>
            <a:ext cx="1656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7EFBD05-891B-7C32-D9FB-E665E5899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8" t="4401" r="57411"/>
          <a:stretch/>
        </p:blipFill>
        <p:spPr>
          <a:xfrm>
            <a:off x="7968208" y="707474"/>
            <a:ext cx="3024336" cy="1811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E6814-6A7A-E917-342C-2415AE40AA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07" t="4401" r="8309"/>
          <a:stretch/>
        </p:blipFill>
        <p:spPr>
          <a:xfrm>
            <a:off x="8004212" y="2765402"/>
            <a:ext cx="2952328" cy="181160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12B8CF5-524F-AF0B-0ADA-7158EE0D231C}"/>
              </a:ext>
            </a:extLst>
          </p:cNvPr>
          <p:cNvSpPr/>
          <p:nvPr/>
        </p:nvSpPr>
        <p:spPr>
          <a:xfrm>
            <a:off x="7752184" y="422276"/>
            <a:ext cx="3600400" cy="2381996"/>
          </a:xfrm>
          <a:prstGeom prst="ellipse">
            <a:avLst/>
          </a:pr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DDAA0D-9023-932A-0088-4B20D215536E}"/>
              </a:ext>
            </a:extLst>
          </p:cNvPr>
          <p:cNvSpPr/>
          <p:nvPr/>
        </p:nvSpPr>
        <p:spPr>
          <a:xfrm>
            <a:off x="356476" y="1451845"/>
            <a:ext cx="1548172" cy="792088"/>
          </a:xfrm>
          <a:prstGeom prst="rect">
            <a:avLst/>
          </a:pr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B8AF61-45D8-A962-E2DD-097F37F8FF97}"/>
              </a:ext>
            </a:extLst>
          </p:cNvPr>
          <p:cNvGrpSpPr/>
          <p:nvPr/>
        </p:nvGrpSpPr>
        <p:grpSpPr>
          <a:xfrm>
            <a:off x="479376" y="3062733"/>
            <a:ext cx="1636020" cy="369332"/>
            <a:chOff x="479375" y="3584350"/>
            <a:chExt cx="163602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498C48-A833-3343-602F-1E03994E83F2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13" name="Striped Right Arrow 12">
              <a:extLst>
                <a:ext uri="{FF2B5EF4-FFF2-40B4-BE49-F238E27FC236}">
                  <a16:creationId xmlns:a16="http://schemas.microsoft.com/office/drawing/2014/main" id="{40EDC0E7-6808-6780-E571-8A55570216A7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D0ADD23-78F0-3CE5-0FFD-1466E20CEACF}"/>
              </a:ext>
            </a:extLst>
          </p:cNvPr>
          <p:cNvSpPr txBox="1"/>
          <p:nvPr/>
        </p:nvSpPr>
        <p:spPr>
          <a:xfrm>
            <a:off x="356476" y="3511997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- Low Re for the tubes, model suggests flow for narrow pipes or channels with low 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F7D7B7-B45C-151E-1936-F55E2553F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0" y="4435327"/>
            <a:ext cx="3258639" cy="20247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B00D8E-464E-6EBE-AC5E-E3FEDE133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251" y="2643991"/>
            <a:ext cx="2906518" cy="42140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5D3B37-F29C-6429-B454-5538FD904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2082" y="4580550"/>
            <a:ext cx="3884600" cy="6446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033EC8-F820-63DC-45C9-BEACAEB4E0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4298" y="5387774"/>
            <a:ext cx="1512156" cy="131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9EAE-5868-689D-5160-595E673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87277-D3A4-5893-7864-23C7515A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772816"/>
            <a:ext cx="3886200" cy="105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F67D6-1FB6-A9BD-8A1F-7B3829ABFF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5" b="12289"/>
          <a:stretch/>
        </p:blipFill>
        <p:spPr>
          <a:xfrm>
            <a:off x="4727848" y="954708"/>
            <a:ext cx="6192688" cy="374441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2BDD8F6-8408-473B-162F-1C475660C2B6}"/>
              </a:ext>
            </a:extLst>
          </p:cNvPr>
          <p:cNvGrpSpPr/>
          <p:nvPr/>
        </p:nvGrpSpPr>
        <p:grpSpPr>
          <a:xfrm>
            <a:off x="603356" y="3244334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7B4332-2F95-943F-CE13-03B9332F91D6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52AD9C5D-B149-1D55-6DA9-0D1BB9535CD8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31E751-15CE-4C3C-D33A-BB9EFFDBE243}"/>
              </a:ext>
            </a:extLst>
          </p:cNvPr>
          <p:cNvSpPr txBox="1"/>
          <p:nvPr/>
        </p:nvSpPr>
        <p:spPr>
          <a:xfrm>
            <a:off x="352901" y="3846418"/>
            <a:ext cx="464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Slow rise might be the reason of the dispersion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1445CA-E2AB-B115-E36B-C9A2C93A7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56" y="4448502"/>
            <a:ext cx="3258639" cy="20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A16-77D6-8234-F97F-6EC09049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Cholete and Clautier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07E6E-179E-668F-4681-5BCB7202A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0" t="10050" r="16618"/>
          <a:stretch/>
        </p:blipFill>
        <p:spPr>
          <a:xfrm>
            <a:off x="463166" y="1229183"/>
            <a:ext cx="2448272" cy="212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A36E1-1C13-504A-CC23-A838F4A2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38" y="1335872"/>
            <a:ext cx="6040014" cy="100566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9FA499E-558D-F41D-23EB-55D07B9EFE67}"/>
              </a:ext>
            </a:extLst>
          </p:cNvPr>
          <p:cNvGrpSpPr/>
          <p:nvPr/>
        </p:nvGrpSpPr>
        <p:grpSpPr>
          <a:xfrm>
            <a:off x="623392" y="3853261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1A904D-5D26-4D64-EABD-8C133D65CAC0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2092F311-6AD2-FCF9-4062-E819FE7A84DB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F305AA-12D9-4487-1EEB-5E2D9F580B08}"/>
              </a:ext>
            </a:extLst>
          </p:cNvPr>
          <p:cNvSpPr txBox="1"/>
          <p:nvPr/>
        </p:nvSpPr>
        <p:spPr>
          <a:xfrm>
            <a:off x="479376" y="4469975"/>
            <a:ext cx="6133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Since the model considers dead zone and bypass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fit well if the system has a delayed response and dispersion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5FDB8-279D-ECFE-5E1C-7E1FBEEF41CB}"/>
              </a:ext>
            </a:extLst>
          </p:cNvPr>
          <p:cNvSpPr txBox="1"/>
          <p:nvPr/>
        </p:nvSpPr>
        <p:spPr>
          <a:xfrm>
            <a:off x="458195" y="5150705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 the output concentration to reach a steady state)</a:t>
            </a:r>
            <a:endParaRPr lang="en-TR" dirty="0"/>
          </a:p>
          <a:p>
            <a:r>
              <a:rPr lang="tr-TR" dirty="0"/>
              <a:t>Alfa (bypass) </a:t>
            </a:r>
            <a:r>
              <a:rPr lang="tr-TR" dirty="0" err="1"/>
              <a:t>and</a:t>
            </a:r>
            <a:r>
              <a:rPr lang="tr-TR" dirty="0"/>
              <a:t> Beta (</a:t>
            </a:r>
            <a:r>
              <a:rPr lang="tr-TR" dirty="0" err="1"/>
              <a:t>dead</a:t>
            </a:r>
            <a:r>
              <a:rPr lang="tr-TR" dirty="0"/>
              <a:t> </a:t>
            </a:r>
            <a:r>
              <a:rPr lang="tr-TR" dirty="0" err="1"/>
              <a:t>zone</a:t>
            </a:r>
            <a:r>
              <a:rPr lang="tr-TR" dirty="0"/>
              <a:t>)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fractions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in 0-1 </a:t>
            </a:r>
            <a:r>
              <a:rPr lang="tr-TR" dirty="0" err="1"/>
              <a:t>range</a:t>
            </a:r>
            <a:endParaRPr lang="en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E75D5-DD53-FC89-64BB-1011E7DFA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785742" y="2217071"/>
            <a:ext cx="3803598" cy="46576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993237-EFB5-5E19-D16F-5634CC4FF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549" y="2605124"/>
            <a:ext cx="2239932" cy="13765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CECF7A-863C-D07A-F64B-A1CB6B350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821" y="2588916"/>
            <a:ext cx="2240746" cy="13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3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6D8C-63AB-D0DF-9AB4-FAE2658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Plug Flow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F0B22-BD71-4B82-BFC9-33504D9B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9" b="11965"/>
          <a:stretch/>
        </p:blipFill>
        <p:spPr>
          <a:xfrm>
            <a:off x="335360" y="1196752"/>
            <a:ext cx="4417925" cy="1146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1C23D-75E1-CBDD-6C23-104419A3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70" b="17846"/>
          <a:stretch/>
        </p:blipFill>
        <p:spPr>
          <a:xfrm>
            <a:off x="4990445" y="1430859"/>
            <a:ext cx="4896544" cy="88192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DB9F36-21AC-4478-580F-530C59958483}"/>
              </a:ext>
            </a:extLst>
          </p:cNvPr>
          <p:cNvGrpSpPr/>
          <p:nvPr/>
        </p:nvGrpSpPr>
        <p:grpSpPr>
          <a:xfrm>
            <a:off x="605050" y="3244334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ABF154-6A9C-4650-04BC-23219763D8F3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AA109FA8-50F4-A218-D2C3-E448B011A21E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744460-3C2C-7167-431C-7C04ECAC1F4E}"/>
              </a:ext>
            </a:extLst>
          </p:cNvPr>
          <p:cNvSpPr txBox="1"/>
          <p:nvPr/>
        </p:nvSpPr>
        <p:spPr>
          <a:xfrm>
            <a:off x="493314" y="3713453"/>
            <a:ext cx="10203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Plug flow tends to have a sharp response but recycle introduces oscillation in RTD</a:t>
            </a:r>
          </a:p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 the output concentration to reach a steady state)</a:t>
            </a:r>
            <a:endParaRPr lang="en-TR" dirty="0"/>
          </a:p>
          <a:p>
            <a:r>
              <a:rPr lang="en-TR" dirty="0"/>
              <a:t>R should be in the range of 0-1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955D21-157F-17F6-FAF5-B596AC767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4429458"/>
            <a:ext cx="3251070" cy="19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4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42F-838D-C6AD-117C-AB2A816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3A331-7521-93A3-93A0-948D2BCB8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23" r="9236" b="9613"/>
          <a:stretch/>
        </p:blipFill>
        <p:spPr>
          <a:xfrm>
            <a:off x="5087888" y="1318517"/>
            <a:ext cx="4913156" cy="97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52B86-3A99-C201-61A4-DCA0BB7F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1" r="5704"/>
          <a:stretch/>
        </p:blipFill>
        <p:spPr>
          <a:xfrm>
            <a:off x="623392" y="980728"/>
            <a:ext cx="3700666" cy="2069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59490-83DB-A3E5-6C71-C694270C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777" y="2556405"/>
            <a:ext cx="1675377" cy="101661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E337A-723E-D3E5-7956-E38DBDA0C928}"/>
              </a:ext>
            </a:extLst>
          </p:cNvPr>
          <p:cNvGrpSpPr/>
          <p:nvPr/>
        </p:nvGrpSpPr>
        <p:grpSpPr>
          <a:xfrm>
            <a:off x="623392" y="3525673"/>
            <a:ext cx="1636020" cy="369332"/>
            <a:chOff x="479375" y="3584350"/>
            <a:chExt cx="163602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4A2E06-4CA1-1B10-81BD-8F4E7B8C09AA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9" name="Striped Right Arrow 8">
              <a:extLst>
                <a:ext uri="{FF2B5EF4-FFF2-40B4-BE49-F238E27FC236}">
                  <a16:creationId xmlns:a16="http://schemas.microsoft.com/office/drawing/2014/main" id="{E712E39B-5511-D11F-0B43-7707FEB8660F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0D923B3-67AB-4695-25E8-929D3E1AE810}"/>
              </a:ext>
            </a:extLst>
          </p:cNvPr>
          <p:cNvSpPr txBox="1"/>
          <p:nvPr/>
        </p:nvSpPr>
        <p:spPr>
          <a:xfrm>
            <a:off x="479376" y="4077072"/>
            <a:ext cx="5490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TR" dirty="0"/>
              <a:t>Each tank represents a stage where mixing occurs before the substance moves to the next stage. This creates a cumulative delay effect, loading to a gradual increase in the output concentration. Each oscillation represents a cycle through the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1CAC1-E66F-B22B-D56C-F85E13065325}"/>
              </a:ext>
            </a:extLst>
          </p:cNvPr>
          <p:cNvSpPr txBox="1"/>
          <p:nvPr/>
        </p:nvSpPr>
        <p:spPr>
          <a:xfrm>
            <a:off x="469883" y="5734997"/>
            <a:ext cx="5821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Beta and R is a fraction so they should be in the range of 0-1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0434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6F-4F12-8752-8300-0DB6F74B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 &amp; The unified time delay model</a:t>
            </a:r>
            <a:br>
              <a:rPr lang="en-TR" dirty="0"/>
            </a:b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90594-C564-68DE-4EBD-25E38AA1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412776"/>
            <a:ext cx="3949204" cy="215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E8CC1-7543-09FA-4777-F60585D2A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951" y="1208823"/>
            <a:ext cx="4438314" cy="1521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7A6049-E2B6-0998-8301-587D2D3361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77"/>
          <a:stretch/>
        </p:blipFill>
        <p:spPr>
          <a:xfrm>
            <a:off x="767408" y="3789040"/>
            <a:ext cx="6072898" cy="2016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83F28-ABD9-B339-C503-D626F40A4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306" y="4149080"/>
            <a:ext cx="5182344" cy="1180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A4758-6493-DD5F-9C73-19E6E9146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104" y="5481132"/>
            <a:ext cx="4680520" cy="593255"/>
          </a:xfrm>
          <a:prstGeom prst="rect">
            <a:avLst/>
          </a:prstGeom>
        </p:spPr>
      </p:pic>
      <p:sp>
        <p:nvSpPr>
          <p:cNvPr id="9" name="&quot;No&quot; Symbol 8">
            <a:extLst>
              <a:ext uri="{FF2B5EF4-FFF2-40B4-BE49-F238E27FC236}">
                <a16:creationId xmlns:a16="http://schemas.microsoft.com/office/drawing/2014/main" id="{932529E8-8A26-343C-2484-374278732AD1}"/>
              </a:ext>
            </a:extLst>
          </p:cNvPr>
          <p:cNvSpPr/>
          <p:nvPr/>
        </p:nvSpPr>
        <p:spPr>
          <a:xfrm>
            <a:off x="7032104" y="2852936"/>
            <a:ext cx="936104" cy="936104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58EE3-898E-90B4-5996-F08B35335934}"/>
              </a:ext>
            </a:extLst>
          </p:cNvPr>
          <p:cNvSpPr txBox="1"/>
          <p:nvPr/>
        </p:nvSpPr>
        <p:spPr>
          <a:xfrm>
            <a:off x="8217845" y="3190382"/>
            <a:ext cx="259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Inverse L</a:t>
            </a:r>
            <a:r>
              <a:rPr lang="en-US" dirty="0"/>
              <a:t>a</a:t>
            </a:r>
            <a:r>
              <a:rPr lang="en-TR" dirty="0"/>
              <a:t>place transform</a:t>
            </a:r>
          </a:p>
        </p:txBody>
      </p:sp>
    </p:spTree>
    <p:extLst>
      <p:ext uri="{BB962C8B-B14F-4D97-AF65-F5344CB8AC3E}">
        <p14:creationId xmlns:p14="http://schemas.microsoft.com/office/powerpoint/2010/main" val="3209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3FF4-DD90-EBA7-897A-A0C210F6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A37FF1-91E7-4171-6BB7-5155A90A497F}"/>
              </a:ext>
            </a:extLst>
          </p:cNvPr>
          <p:cNvGrpSpPr/>
          <p:nvPr/>
        </p:nvGrpSpPr>
        <p:grpSpPr>
          <a:xfrm>
            <a:off x="0" y="1052672"/>
            <a:ext cx="7601334" cy="3665435"/>
            <a:chOff x="1235460" y="1052672"/>
            <a:chExt cx="7601334" cy="36654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034AE4-15F5-DDE2-AACF-137AD5372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672" y="1052672"/>
              <a:ext cx="5693122" cy="366543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D2DFE8-2C21-5F8B-86E2-C0EE066A38FE}"/>
                </a:ext>
              </a:extLst>
            </p:cNvPr>
            <p:cNvSpPr txBox="1"/>
            <p:nvPr/>
          </p:nvSpPr>
          <p:spPr>
            <a:xfrm>
              <a:off x="1235460" y="2519957"/>
              <a:ext cx="129614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TR" dirty="0"/>
                <a:t>Mean residence time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1157F46-9CAD-3142-F9C4-80B87E1080FD}"/>
                </a:ext>
              </a:extLst>
            </p:cNvPr>
            <p:cNvCxnSpPr/>
            <p:nvPr/>
          </p:nvCxnSpPr>
          <p:spPr>
            <a:xfrm flipH="1">
              <a:off x="2567608" y="2863387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FB32F79-4BE6-4BBE-2183-EEA19728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2634828"/>
            <a:ext cx="59182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1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008EA-7BC3-C0B0-F035-6954B2A1F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1" y="1154357"/>
            <a:ext cx="5987515" cy="292685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4F840-37B7-8A46-C0FB-14EDD185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687248"/>
            <a:ext cx="11568608" cy="576000"/>
          </a:xfrm>
        </p:spPr>
        <p:txBody>
          <a:bodyPr/>
          <a:lstStyle/>
          <a:p>
            <a:r>
              <a:rPr lang="en-TR" dirty="0"/>
              <a:t>Study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6A96EC-03F3-1FB8-193B-A3391F18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3529"/>
            <a:ext cx="5125101" cy="32995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68CD88-0590-82AB-49E9-7BB98EFBF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983" y="3943982"/>
            <a:ext cx="4710410" cy="29268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D7822F-6A3E-B2BA-470C-EE42E94885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"/>
          <a:stretch/>
        </p:blipFill>
        <p:spPr>
          <a:xfrm>
            <a:off x="4132746" y="4021614"/>
            <a:ext cx="3960440" cy="27074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5F96BF-23D3-82D4-478C-08128D234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46" y="4021614"/>
            <a:ext cx="4337429" cy="283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6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1167-CD00-BD64-3F17-529676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Ganttchart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A45B3-FFC9-7CD9-0515-012ADB59D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4" y="2317965"/>
            <a:ext cx="11568112" cy="2222069"/>
          </a:xfrm>
        </p:spPr>
      </p:pic>
    </p:spTree>
    <p:extLst>
      <p:ext uri="{BB962C8B-B14F-4D97-AF65-F5344CB8AC3E}">
        <p14:creationId xmlns:p14="http://schemas.microsoft.com/office/powerpoint/2010/main" val="101616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663952" y="1268760"/>
            <a:ext cx="6528048" cy="3332800"/>
          </a:xfrm>
        </p:spPr>
        <p:txBody>
          <a:bodyPr/>
          <a:lstStyle/>
          <a:p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b="1" dirty="0">
                <a:effectLst/>
                <a:latin typeface="TimesNewRomanPSMT"/>
              </a:rPr>
              <a:t>THANK YOU!</a:t>
            </a:r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sz="1800" dirty="0">
                <a:effectLst/>
                <a:latin typeface="TimesNewRomanPSMT"/>
              </a:rPr>
              <a:t>I would like to thank Prof. Dr.-Ing. Robert </a:t>
            </a:r>
            <a:r>
              <a:rPr lang="en-US" sz="1800" dirty="0" err="1">
                <a:effectLst/>
                <a:latin typeface="TimesNewRomanPSMT"/>
              </a:rPr>
              <a:t>Güttel</a:t>
            </a:r>
            <a:r>
              <a:rPr lang="en-US" sz="1800" dirty="0">
                <a:effectLst/>
                <a:latin typeface="TimesNewRomanPSMT"/>
              </a:rPr>
              <a:t>, M.Sc. Hannes </a:t>
            </a:r>
            <a:r>
              <a:rPr lang="en-US" sz="1800" dirty="0" err="1">
                <a:effectLst/>
                <a:latin typeface="TimesNewRomanPSMT"/>
              </a:rPr>
              <a:t>Stagge</a:t>
            </a:r>
            <a:r>
              <a:rPr lang="en-US" sz="1800" dirty="0">
                <a:effectLst/>
                <a:latin typeface="TimesNewRomanPSMT"/>
              </a:rPr>
              <a:t> and M.Sc. Max </a:t>
            </a:r>
            <a:r>
              <a:rPr lang="en-US" sz="1800" dirty="0" err="1">
                <a:effectLst/>
                <a:latin typeface="TimesNewRomanPSMT"/>
              </a:rPr>
              <a:t>Gäßler</a:t>
            </a:r>
            <a:r>
              <a:rPr lang="en-US" sz="1800" dirty="0">
                <a:effectLst/>
                <a:latin typeface="TimesNewRomanPSMT"/>
              </a:rPr>
              <a:t> for their guidance and support.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28123</TotalTime>
  <Words>311</Words>
  <Application>Microsoft Macintosh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-webkit-standard</vt:lpstr>
      <vt:lpstr>Arial</vt:lpstr>
      <vt:lpstr>Calibri</vt:lpstr>
      <vt:lpstr>Symbol</vt:lpstr>
      <vt:lpstr>Times</vt:lpstr>
      <vt:lpstr>TimesNewRomanPSMT</vt:lpstr>
      <vt:lpstr>Larissa</vt:lpstr>
      <vt:lpstr>Deconvolution of RTD for compartment models via CNNs</vt:lpstr>
      <vt:lpstr>The Convection Model For Laminar Flow</vt:lpstr>
      <vt:lpstr>Dispersion Model</vt:lpstr>
      <vt:lpstr>Cholete and Clautier</vt:lpstr>
      <vt:lpstr>Plug Flow with Recycle</vt:lpstr>
      <vt:lpstr>Tank in series with recycle</vt:lpstr>
      <vt:lpstr>Adler and Hovorka &amp; The unified time delay model </vt:lpstr>
      <vt:lpstr>Tank in series</vt:lpstr>
      <vt:lpstr>Study </vt:lpstr>
      <vt:lpstr>Ganttchart</vt:lpstr>
      <vt:lpstr>  THANK YOU!  I would like to thank Prof. Dr.-Ing. Robert Güttel, M.Sc. Hannes Stagge and M.Sc. Max Gäßler for their guidance and support.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Residence Time Distribution Analysis via Convolutional Neural Networks: A Promising Approach </dc:title>
  <dc:creator>Tuana Oyuncu</dc:creator>
  <cp:lastModifiedBy>Tuana Oyuncu</cp:lastModifiedBy>
  <cp:revision>20</cp:revision>
  <cp:lastPrinted>2015-02-13T10:13:39Z</cp:lastPrinted>
  <dcterms:created xsi:type="dcterms:W3CDTF">2024-06-29T12:46:34Z</dcterms:created>
  <dcterms:modified xsi:type="dcterms:W3CDTF">2024-08-07T13:36:01Z</dcterms:modified>
</cp:coreProperties>
</file>
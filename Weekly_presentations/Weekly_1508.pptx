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83" r:id="rId3"/>
    <p:sldId id="284" r:id="rId4"/>
    <p:sldId id="287" r:id="rId5"/>
    <p:sldId id="290" r:id="rId6"/>
    <p:sldId id="288" r:id="rId7"/>
    <p:sldId id="289" r:id="rId8"/>
    <p:sldId id="286" r:id="rId9"/>
    <p:sldId id="281" r:id="rId10"/>
    <p:sldId id="258" r:id="rId11"/>
  </p:sldIdLst>
  <p:sldSz cx="12192000" cy="6858000"/>
  <p:notesSz cx="6797675" cy="985678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6D07"/>
    <a:srgbClr val="FF8C49"/>
    <a:srgbClr val="00B050"/>
    <a:srgbClr val="575756"/>
    <a:srgbClr val="C1FABE"/>
    <a:srgbClr val="FF9F9D"/>
    <a:srgbClr val="FFFBB6"/>
    <a:srgbClr val="FFFFFF"/>
    <a:srgbClr val="333333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5703" autoAdjust="0"/>
  </p:normalViewPr>
  <p:slideViewPr>
    <p:cSldViewPr>
      <p:cViewPr>
        <p:scale>
          <a:sx n="114" d="100"/>
          <a:sy n="114" d="100"/>
        </p:scale>
        <p:origin x="416" y="4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2D906-12E9-42EA-8A02-A1A7582BC19D}" type="datetimeFigureOut">
              <a:rPr lang="de-DE" smtClean="0"/>
              <a:t>14.08.24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39775"/>
            <a:ext cx="6569075" cy="3695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681974"/>
            <a:ext cx="5438140" cy="44355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3BD42-9C78-4E0C-AEAC-2DC2060B56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39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tiff"/><Relationship Id="rId10" Type="http://schemas.openxmlformats.org/officeDocument/2006/relationships/image" Target="../media/image8.emf"/><Relationship Id="rId4" Type="http://schemas.openxmlformats.org/officeDocument/2006/relationships/image" Target="../media/image2.png"/><Relationship Id="rId9" Type="http://schemas.openxmlformats.org/officeDocument/2006/relationships/image" Target="../media/image7.tiff"/><Relationship Id="rId14" Type="http://schemas.openxmlformats.org/officeDocument/2006/relationships/image" Target="../media/image1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3952" y="1133999"/>
            <a:ext cx="6528048" cy="3332800"/>
          </a:xfrm>
        </p:spPr>
        <p:txBody>
          <a:bodyPr anchor="ctr"/>
          <a:lstStyle>
            <a:lvl1pPr>
              <a:defRPr lang="de-DE" sz="2800" kern="1200">
                <a:solidFill>
                  <a:srgbClr val="DF6D07"/>
                </a:solidFill>
                <a:latin typeface="Arial" charset="0"/>
                <a:ea typeface="ＭＳ Ｐゴシック" charset="0"/>
                <a:cs typeface="+mn-cs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493853"/>
            <a:ext cx="6528048" cy="144000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de-DE" sz="2000" kern="1200" smtClean="0">
                <a:solidFill>
                  <a:srgbClr val="575756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938A86B-3E09-4560-BF95-5ACF3C5FEC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54000"/>
            <a:ext cx="3804035" cy="10800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1ED4453-6D94-47FE-91F1-82B7443D8BC5}"/>
              </a:ext>
            </a:extLst>
          </p:cNvPr>
          <p:cNvGrpSpPr/>
          <p:nvPr userDrawn="1"/>
        </p:nvGrpSpPr>
        <p:grpSpPr>
          <a:xfrm>
            <a:off x="0" y="3947414"/>
            <a:ext cx="5663952" cy="1929858"/>
            <a:chOff x="0" y="4950000"/>
            <a:chExt cx="5663952" cy="1929858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A63DA0AD-E536-428B-959F-0EF52B3BB110}"/>
                </a:ext>
              </a:extLst>
            </p:cNvPr>
            <p:cNvSpPr/>
            <p:nvPr userDrawn="1"/>
          </p:nvSpPr>
          <p:spPr>
            <a:xfrm>
              <a:off x="0" y="4950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multi-phase reactions &amp; reactors</a:t>
              </a:r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46AC0206-E656-4BAD-9CEA-7021AF68EF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89999"/>
              <a:ext cx="3145630" cy="1368001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A1B1F893-6F0B-43EB-B4FA-3EBF7B4F2A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82787" y="5490000"/>
              <a:ext cx="2581165" cy="1389858"/>
            </a:xfrm>
            <a:prstGeom prst="rect">
              <a:avLst/>
            </a:prstGeom>
          </p:spPr>
        </p:pic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37F7BF5-7E60-40E7-9FF3-9161852A5F08}"/>
              </a:ext>
            </a:extLst>
          </p:cNvPr>
          <p:cNvGrpSpPr/>
          <p:nvPr userDrawn="1"/>
        </p:nvGrpSpPr>
        <p:grpSpPr>
          <a:xfrm>
            <a:off x="0" y="-4148"/>
            <a:ext cx="5663952" cy="1929858"/>
            <a:chOff x="0" y="1134000"/>
            <a:chExt cx="5663952" cy="1929858"/>
          </a:xfrm>
        </p:grpSpPr>
        <p:pic>
          <p:nvPicPr>
            <p:cNvPr id="32" name="Grafik 31" descr="Ein Bild, das Essen enthält.&#10;&#10;Automatisch generierte Beschreibung">
              <a:extLst>
                <a:ext uri="{FF2B5EF4-FFF2-40B4-BE49-F238E27FC236}">
                  <a16:creationId xmlns:a16="http://schemas.microsoft.com/office/drawing/2014/main" id="{98C24E7E-85D2-4352-A382-CF78CC2C7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73" t="13580" r="21356" b="17998"/>
            <a:stretch/>
          </p:blipFill>
          <p:spPr>
            <a:xfrm>
              <a:off x="1518782" y="1665514"/>
              <a:ext cx="1389857" cy="1389857"/>
            </a:xfrm>
            <a:prstGeom prst="rect">
              <a:avLst/>
            </a:prstGeom>
          </p:spPr>
        </p:pic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EFD4168-01B7-46E4-A6FE-1409051501AB}"/>
                </a:ext>
              </a:extLst>
            </p:cNvPr>
            <p:cNvSpPr/>
            <p:nvPr userDrawn="1"/>
          </p:nvSpPr>
          <p:spPr>
            <a:xfrm>
              <a:off x="0" y="1134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nanostructured, bi-functional catalysts</a:t>
              </a:r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E84DDBC3-7915-453A-9721-5D7E1362EF3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2291" t="1484" r="2291" b="2744"/>
            <a:stretch/>
          </p:blipFill>
          <p:spPr>
            <a:xfrm>
              <a:off x="1379" y="1674000"/>
              <a:ext cx="1597210" cy="1384249"/>
            </a:xfrm>
            <a:prstGeom prst="rect">
              <a:avLst/>
            </a:prstGeom>
          </p:spPr>
        </p:pic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CD88957F-9011-4DD3-804F-C8064FC2BFC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2469" t="2332" r="2469" b="4979"/>
            <a:stretch/>
          </p:blipFill>
          <p:spPr>
            <a:xfrm>
              <a:off x="4081952" y="1679609"/>
              <a:ext cx="1581999" cy="1384249"/>
            </a:xfrm>
            <a:prstGeom prst="rect">
              <a:avLst/>
            </a:prstGeom>
          </p:spPr>
        </p:pic>
        <p:pic>
          <p:nvPicPr>
            <p:cNvPr id="33" name="Grafik 32" descr="Ein Bild, das Schrank enthält.&#10;&#10;Automatisch generierte Beschreibung">
              <a:extLst>
                <a:ext uri="{FF2B5EF4-FFF2-40B4-BE49-F238E27FC236}">
                  <a16:creationId xmlns:a16="http://schemas.microsoft.com/office/drawing/2014/main" id="{40E5B97F-B135-4CBE-B7FD-19C1979790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4401" y="1676618"/>
              <a:ext cx="1257549" cy="1381631"/>
            </a:xfrm>
            <a:prstGeom prst="rect">
              <a:avLst/>
            </a:prstGeom>
          </p:spPr>
        </p:pic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76AD956C-3F8B-4D2F-9EB6-3ACA924B76A7}"/>
              </a:ext>
            </a:extLst>
          </p:cNvPr>
          <p:cNvGrpSpPr/>
          <p:nvPr userDrawn="1"/>
        </p:nvGrpSpPr>
        <p:grpSpPr>
          <a:xfrm>
            <a:off x="-1" y="1988840"/>
            <a:ext cx="5663953" cy="1897071"/>
            <a:chOff x="-1" y="3063858"/>
            <a:chExt cx="5663953" cy="1897071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1613DFCC-B54F-47FA-88AC-803735AE6E53}"/>
                </a:ext>
              </a:extLst>
            </p:cNvPr>
            <p:cNvSpPr/>
            <p:nvPr userDrawn="1"/>
          </p:nvSpPr>
          <p:spPr>
            <a:xfrm>
              <a:off x="0" y="3063858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dynamic reactor operation</a:t>
              </a:r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FBDDA22F-D654-4537-8713-E4FD596930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4322889" y="3610929"/>
              <a:ext cx="1341062" cy="1332000"/>
            </a:xfrm>
            <a:prstGeom prst="rect">
              <a:avLst/>
            </a:prstGeom>
          </p:spPr>
        </p:pic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AFD360D7-B06A-4A7E-80C4-F91DCCC8077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t="9371" b="6808"/>
            <a:stretch/>
          </p:blipFill>
          <p:spPr>
            <a:xfrm>
              <a:off x="1391894" y="3608223"/>
              <a:ext cx="1780388" cy="1319919"/>
            </a:xfrm>
            <a:prstGeom prst="rect">
              <a:avLst/>
            </a:prstGeom>
          </p:spPr>
        </p:pic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EA539917-AF59-4973-8F95-0FA488F45F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00" t="10502" r="6668" b="28620"/>
            <a:stretch/>
          </p:blipFill>
          <p:spPr>
            <a:xfrm>
              <a:off x="3323378" y="3592929"/>
              <a:ext cx="896586" cy="1368000"/>
            </a:xfrm>
            <a:prstGeom prst="rect">
              <a:avLst/>
            </a:prstGeom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7B073412-E121-4EB9-A73B-8AC753EB83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3610929"/>
              <a:ext cx="1332000" cy="1332000"/>
            </a:xfrm>
            <a:prstGeom prst="rect">
              <a:avLst/>
            </a:prstGeom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3AB5D57D-DAB7-4ED2-AE96-BC2918DA35F5}"/>
                </a:ext>
              </a:extLst>
            </p:cNvPr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689" y="3660441"/>
              <a:ext cx="2880000" cy="410992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</p:spPr>
        </p:pic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D2DACA63-E712-4A97-948C-A159116D5958}"/>
              </a:ext>
            </a:extLst>
          </p:cNvPr>
          <p:cNvSpPr/>
          <p:nvPr userDrawn="1"/>
        </p:nvSpPr>
        <p:spPr>
          <a:xfrm>
            <a:off x="0" y="5960907"/>
            <a:ext cx="12192001" cy="900000"/>
          </a:xfrm>
          <a:prstGeom prst="rect">
            <a:avLst/>
          </a:prstGeom>
          <a:solidFill>
            <a:srgbClr val="5757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Master Thesis  |  Institute of Chemical Engineering  |  Ulm University</a:t>
            </a:r>
          </a:p>
        </p:txBody>
      </p:sp>
    </p:spTree>
    <p:extLst>
      <p:ext uri="{BB962C8B-B14F-4D97-AF65-F5344CB8AC3E}">
        <p14:creationId xmlns:p14="http://schemas.microsoft.com/office/powerpoint/2010/main" val="94042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rgbClr val="DF6D07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DF6D07"/>
              </a:buClr>
              <a:defRPr/>
            </a:lvl1pPr>
            <a:lvl2pPr>
              <a:buClr>
                <a:srgbClr val="DF6D07"/>
              </a:buClr>
              <a:defRPr/>
            </a:lvl2pPr>
            <a:lvl3pPr>
              <a:buClr>
                <a:srgbClr val="DF6D07"/>
              </a:buClr>
              <a:defRPr/>
            </a:lvl3pPr>
            <a:lvl4pPr>
              <a:buClr>
                <a:srgbClr val="DF6D07"/>
              </a:buClr>
              <a:defRPr/>
            </a:lvl4pPr>
            <a:lvl5pPr>
              <a:buClr>
                <a:srgbClr val="DF6D07"/>
              </a:buCl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27448" y="212727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Master Thesis|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‹#›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7B78706-6FB0-41BA-A68C-672E2B168A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25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2716669"/>
            <a:ext cx="12192000" cy="1440160"/>
          </a:xfrm>
        </p:spPr>
        <p:txBody>
          <a:bodyPr anchor="ctr"/>
          <a:lstStyle>
            <a:lvl1pPr algn="ctr">
              <a:defRPr sz="2800">
                <a:solidFill>
                  <a:srgbClr val="DF6D07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95917" y="198438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Research Internship 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‹#›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0C7FA73-13A2-46CB-B457-48AF3A5E0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49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3392" y="476672"/>
            <a:ext cx="11568608" cy="5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fontAlgn="base">
              <a:spcAft>
                <a:spcPct val="0"/>
              </a:spcAft>
            </a:pPr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392" y="1052672"/>
            <a:ext cx="11568608" cy="5398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23390" y="6492876"/>
            <a:ext cx="115686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033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lang="de-DE" sz="2400" b="0" kern="1200" dirty="0" smtClean="0">
          <a:solidFill>
            <a:srgbClr val="DF6D07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</p:titleStyle>
    <p:bodyStyle>
      <a:lvl1pPr marL="268288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36575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3952" y="1484784"/>
            <a:ext cx="6528048" cy="3332800"/>
          </a:xfrm>
        </p:spPr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Deconvolution of RTD for compartment models via CNNs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293096"/>
            <a:ext cx="6528048" cy="1620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Tuana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Oyuncu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15/08/2024</a:t>
            </a:r>
          </a:p>
        </p:txBody>
      </p:sp>
    </p:spTree>
    <p:extLst>
      <p:ext uri="{BB962C8B-B14F-4D97-AF65-F5344CB8AC3E}">
        <p14:creationId xmlns:p14="http://schemas.microsoft.com/office/powerpoint/2010/main" val="234668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3E625-BAD0-E2D9-7FFC-C67FD4CC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The Convection Model For Laminar Flow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5D3B37-F29C-6429-B454-5538FD904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412776"/>
            <a:ext cx="3884600" cy="64467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D8415B-2DD1-E306-96A3-B5F6B2D2F126}"/>
              </a:ext>
            </a:extLst>
          </p:cNvPr>
          <p:cNvCxnSpPr/>
          <p:nvPr/>
        </p:nvCxnSpPr>
        <p:spPr>
          <a:xfrm flipV="1">
            <a:off x="1415480" y="1052672"/>
            <a:ext cx="1152128" cy="576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BB6DFED-7BA0-3171-6D71-5B1977A9DC02}"/>
              </a:ext>
            </a:extLst>
          </p:cNvPr>
          <p:cNvSpPr txBox="1"/>
          <p:nvPr/>
        </p:nvSpPr>
        <p:spPr>
          <a:xfrm>
            <a:off x="2711624" y="863392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Gamma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71F44DD-1868-1303-A9D8-C962C86AEC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381" y="2057454"/>
            <a:ext cx="3884600" cy="355444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8326A4B-4C83-9DDB-0663-D872F7A2336C}"/>
              </a:ext>
            </a:extLst>
          </p:cNvPr>
          <p:cNvSpPr txBox="1"/>
          <p:nvPr/>
        </p:nvSpPr>
        <p:spPr>
          <a:xfrm>
            <a:off x="8544272" y="1666057"/>
            <a:ext cx="1352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Laminarflow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D91C01E-1AD8-5933-C8A8-9FEE046AF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0" y="2417558"/>
            <a:ext cx="3312368" cy="375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63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9EAE-5868-689D-5160-595E6731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Dispersion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287277-D3A4-5893-7864-23C7515A8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272109"/>
            <a:ext cx="3886200" cy="1054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BF67D6-1FB6-A9BD-8A1F-7B3829ABFF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65" b="12289"/>
          <a:stretch/>
        </p:blipFill>
        <p:spPr>
          <a:xfrm>
            <a:off x="4358763" y="706323"/>
            <a:ext cx="4536504" cy="27430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8BC70B-2683-C5BE-38A4-32A3719D99A4}"/>
              </a:ext>
            </a:extLst>
          </p:cNvPr>
          <p:cNvSpPr txBox="1"/>
          <p:nvPr/>
        </p:nvSpPr>
        <p:spPr>
          <a:xfrm>
            <a:off x="8875196" y="1557668"/>
            <a:ext cx="2658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Do I need to normalize it?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CB3976-A305-EE0E-756C-54E4CEC98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2399597"/>
            <a:ext cx="3528392" cy="42643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8893C7-919C-1CB5-A9DF-44017BCAA9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744" y="3401287"/>
            <a:ext cx="4097568" cy="36089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11EE71-C4C0-EB7E-83AE-FFE3EC31B2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29" y="2340579"/>
            <a:ext cx="43180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48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042F-838D-C6AD-117C-AB2A8164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Tank in series with recycle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93A331-7521-93A3-93A0-948D2BCB8B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223" r="9236" b="9613"/>
          <a:stretch/>
        </p:blipFill>
        <p:spPr>
          <a:xfrm>
            <a:off x="5117386" y="1196752"/>
            <a:ext cx="4913156" cy="972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052B86-3A99-C201-61A4-DCA0BB7F5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21" r="5704"/>
          <a:stretch/>
        </p:blipFill>
        <p:spPr>
          <a:xfrm>
            <a:off x="623392" y="980728"/>
            <a:ext cx="3700666" cy="20693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959490-83DB-A3E5-6C71-C694270C7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1548" y="1234478"/>
            <a:ext cx="1675377" cy="10166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179177-1983-18E0-B90E-76D2BFEE57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802" y="3050037"/>
            <a:ext cx="4268841" cy="34864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9CD533-A916-847D-4004-383490C5E7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392" y="3060558"/>
            <a:ext cx="4268841" cy="28167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6039183-6D78-12AD-731F-8D82987BED0E}"/>
              </a:ext>
            </a:extLst>
          </p:cNvPr>
          <p:cNvSpPr txBox="1"/>
          <p:nvPr/>
        </p:nvSpPr>
        <p:spPr>
          <a:xfrm>
            <a:off x="1343472" y="2996952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>
                <a:sym typeface="Wingdings" pitchFamily="2" charset="2"/>
              </a:rPr>
              <a:t>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904349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CA16-77D6-8234-F97F-6EC09049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Cholete and Clautier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07E6E-179E-668F-4681-5BCB7202A9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30" t="10050" r="16618"/>
          <a:stretch/>
        </p:blipFill>
        <p:spPr>
          <a:xfrm>
            <a:off x="1055440" y="1052672"/>
            <a:ext cx="2448272" cy="2121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5A36E1-1C13-504A-CC23-A838F4A22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792" y="1412776"/>
            <a:ext cx="6040014" cy="1005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580429-9FF2-E09E-F1AD-DD62F2BEA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72" y="3684298"/>
            <a:ext cx="3276600" cy="2095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AC8D99-8659-AE3C-3252-70BFD7FA7B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575465"/>
            <a:ext cx="4769582" cy="92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67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E16F-4F12-8752-8300-0DB6F74B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The unified time delay model</a:t>
            </a:r>
            <a:br>
              <a:rPr lang="en-TR" dirty="0"/>
            </a:br>
            <a:endParaRPr lang="en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7A6049-E2B6-0998-8301-587D2D3361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"/>
          <a:stretch/>
        </p:blipFill>
        <p:spPr>
          <a:xfrm>
            <a:off x="623392" y="1184981"/>
            <a:ext cx="4872319" cy="16176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683F28-ABD9-B339-C503-D626F40A4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485" y="728544"/>
            <a:ext cx="4008222" cy="9128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BA4758-6493-DD5F-9C73-19E6E9146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016" y="1596661"/>
            <a:ext cx="4680520" cy="5932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958EE3-898E-90B4-5996-F08B35335934}"/>
              </a:ext>
            </a:extLst>
          </p:cNvPr>
          <p:cNvSpPr txBox="1"/>
          <p:nvPr/>
        </p:nvSpPr>
        <p:spPr>
          <a:xfrm>
            <a:off x="7104112" y="2549239"/>
            <a:ext cx="2596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Inverse L</a:t>
            </a:r>
            <a:r>
              <a:rPr lang="en-US" dirty="0"/>
              <a:t>a</a:t>
            </a:r>
            <a:r>
              <a:rPr lang="en-TR" dirty="0"/>
              <a:t>place transform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6E3668-0102-CD3E-DF27-C4B6956B85AA}"/>
              </a:ext>
            </a:extLst>
          </p:cNvPr>
          <p:cNvSpPr/>
          <p:nvPr/>
        </p:nvSpPr>
        <p:spPr>
          <a:xfrm>
            <a:off x="6926060" y="2409869"/>
            <a:ext cx="2952328" cy="6480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809A51-5B02-9BEA-3F6A-F5B21C3423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976" y="3480635"/>
            <a:ext cx="4038600" cy="23749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2935610-0769-93BB-517A-70EA6B76BAFF}"/>
              </a:ext>
            </a:extLst>
          </p:cNvPr>
          <p:cNvSpPr txBox="1"/>
          <p:nvPr/>
        </p:nvSpPr>
        <p:spPr>
          <a:xfrm>
            <a:off x="10789227" y="2272240"/>
            <a:ext cx="7793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R" dirty="0"/>
              <a:t>J=2</a:t>
            </a:r>
          </a:p>
          <a:p>
            <a:pPr algn="ctr"/>
            <a:r>
              <a:rPr lang="en-US" dirty="0"/>
              <a:t>T</a:t>
            </a:r>
            <a:r>
              <a:rPr lang="en-TR" dirty="0"/>
              <a:t>au=1</a:t>
            </a:r>
          </a:p>
          <a:p>
            <a:pPr algn="ctr"/>
            <a:r>
              <a:rPr lang="en-US" dirty="0"/>
              <a:t>A</a:t>
            </a:r>
            <a:r>
              <a:rPr lang="en-TR" dirty="0"/>
              <a:t>lfa=1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E2EB1-A8D7-33A1-9C70-2D22CCFE2E79}"/>
              </a:ext>
            </a:extLst>
          </p:cNvPr>
          <p:cNvSpPr txBox="1"/>
          <p:nvPr/>
        </p:nvSpPr>
        <p:spPr>
          <a:xfrm>
            <a:off x="1343472" y="3686061"/>
            <a:ext cx="395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How can I be sure about the coefficients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931EE-98D6-D25D-FEE5-6D2ECE29C5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8" y="2917116"/>
            <a:ext cx="605790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37A5-1155-082B-D4B7-337E42372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Adler and Hovorka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F54747-89E5-17B2-2E12-45929424E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484784"/>
            <a:ext cx="3949204" cy="2155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F2530B-8A90-1F37-25EE-ACAA10FC4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959" y="1280831"/>
            <a:ext cx="4438314" cy="1521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1F0D1A-820C-6D5D-E5EB-CD14E8A402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080" y="3030045"/>
            <a:ext cx="3511845" cy="15210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DCB8AC-80B5-E311-39A2-7BD1078F3F19}"/>
              </a:ext>
            </a:extLst>
          </p:cNvPr>
          <p:cNvSpPr txBox="1"/>
          <p:nvPr/>
        </p:nvSpPr>
        <p:spPr>
          <a:xfrm>
            <a:off x="10456528" y="3317297"/>
            <a:ext cx="1682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TR" dirty="0"/>
              <a:t>ll =1 </a:t>
            </a:r>
          </a:p>
          <a:p>
            <a:r>
              <a:rPr lang="en-US" dirty="0"/>
              <a:t>E</a:t>
            </a:r>
            <a:r>
              <a:rPr lang="en-TR" dirty="0"/>
              <a:t>xcept beta=0.1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31AB51-296F-EF1B-D2BE-D709BD0CA7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048" y="4551099"/>
            <a:ext cx="44323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93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6D8C-63AB-D0DF-9AB4-FAE2658A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Plug Flow with Recycle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DF0B22-BD71-4B82-BFC9-33504D9BC9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389" b="11965"/>
          <a:stretch/>
        </p:blipFill>
        <p:spPr>
          <a:xfrm>
            <a:off x="335360" y="1196752"/>
            <a:ext cx="4417925" cy="1146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91C23D-75E1-CBDD-6C23-104419A3AC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470" b="17846"/>
          <a:stretch/>
        </p:blipFill>
        <p:spPr>
          <a:xfrm>
            <a:off x="4990445" y="1430859"/>
            <a:ext cx="4896544" cy="88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45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1167-CD00-BD64-3F17-52967670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Ganttchart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9A45B3-FFC9-7CD9-0515-012ADB59D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44" y="2317965"/>
            <a:ext cx="11568112" cy="2222069"/>
          </a:xfrm>
        </p:spPr>
      </p:pic>
    </p:spTree>
    <p:extLst>
      <p:ext uri="{BB962C8B-B14F-4D97-AF65-F5344CB8AC3E}">
        <p14:creationId xmlns:p14="http://schemas.microsoft.com/office/powerpoint/2010/main" val="1016162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5663952" y="1268760"/>
            <a:ext cx="6528048" cy="3332800"/>
          </a:xfrm>
        </p:spPr>
        <p:txBody>
          <a:bodyPr/>
          <a:lstStyle/>
          <a:p>
            <a:br>
              <a:rPr lang="en-US" sz="1800" dirty="0">
                <a:effectLst/>
                <a:latin typeface="TimesNewRomanPSMT"/>
              </a:rPr>
            </a:br>
            <a:br>
              <a:rPr lang="en-US" sz="1800" dirty="0">
                <a:effectLst/>
                <a:latin typeface="TimesNewRomanPSMT"/>
              </a:rPr>
            </a:br>
            <a:r>
              <a:rPr lang="en-US" b="1" dirty="0">
                <a:effectLst/>
                <a:latin typeface="TimesNewRomanPSMT"/>
              </a:rPr>
              <a:t>THANK YOU!</a:t>
            </a:r>
            <a:br>
              <a:rPr lang="en-US" sz="1800" dirty="0">
                <a:effectLst/>
                <a:latin typeface="TimesNewRomanPSMT"/>
              </a:rPr>
            </a:br>
            <a:br>
              <a:rPr lang="en-US" sz="1800" dirty="0">
                <a:effectLst/>
                <a:latin typeface="TimesNewRomanPSMT"/>
              </a:rPr>
            </a:br>
            <a:r>
              <a:rPr lang="en-US" sz="1800" dirty="0">
                <a:effectLst/>
                <a:latin typeface="TimesNewRomanPSMT"/>
              </a:rPr>
              <a:t>I would like to thank Prof. Dr.-Ing. Robert </a:t>
            </a:r>
            <a:r>
              <a:rPr lang="en-US" sz="1800" dirty="0" err="1">
                <a:effectLst/>
                <a:latin typeface="TimesNewRomanPSMT"/>
              </a:rPr>
              <a:t>Güttel</a:t>
            </a:r>
            <a:r>
              <a:rPr lang="en-US" sz="1800" dirty="0">
                <a:effectLst/>
                <a:latin typeface="TimesNewRomanPSMT"/>
              </a:rPr>
              <a:t>, M.Sc. Hannes </a:t>
            </a:r>
            <a:r>
              <a:rPr lang="en-US" sz="1800" dirty="0" err="1">
                <a:effectLst/>
                <a:latin typeface="TimesNewRomanPSMT"/>
              </a:rPr>
              <a:t>Stagge</a:t>
            </a:r>
            <a:r>
              <a:rPr lang="en-US" sz="1800" dirty="0">
                <a:effectLst/>
                <a:latin typeface="TimesNewRomanPSMT"/>
              </a:rPr>
              <a:t> and M.Sc. Max </a:t>
            </a:r>
            <a:r>
              <a:rPr lang="en-US" sz="1800" dirty="0" err="1">
                <a:effectLst/>
                <a:latin typeface="TimesNewRomanPSMT"/>
              </a:rPr>
              <a:t>Gäßler</a:t>
            </a:r>
            <a:r>
              <a:rPr lang="en-US" sz="1800" dirty="0">
                <a:effectLst/>
                <a:latin typeface="TimesNewRomanPSMT"/>
              </a:rPr>
              <a:t> for their guidance and support.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71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6,4179"/>
  <p:tag name="ORIGINALWIDTH" val="1453,926"/>
  <p:tag name="LATEXADDIN" val="\documentclass{article}&#10;\usepackage{amsmath}&#10;\pagestyle{empty}&#10;\begin{document}&#10;&#10;$&#10;\frac{\partial c_\mathrm{i}}{\partial t} = &#10;- \frac{\partial}{\partial z}u\,c_\mathrm{i}&#10;+ D_\mathrm{ax}\frac{\partial^2 c_\mathrm{i}}{\partial z^2}&#10;+ \sum\limits_\mathrm{j}\nu_\mathrm{ij}r_\mathrm{j}&#10;$&#10;&#10;&#10;\end{document}"/>
  <p:tag name="IGUANATEXSIZE" val="20"/>
  <p:tag name="IGUANATEXCURSOR" val="234"/>
</p:tagLst>
</file>

<file path=ppt/theme/theme1.xml><?xml version="1.0" encoding="utf-8"?>
<a:theme xmlns:a="http://schemas.openxmlformats.org/drawingml/2006/main" name="Larissa">
  <a:themeElements>
    <a:clrScheme name="Benutzerdefiniert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D9AAA"/>
      </a:accent1>
      <a:accent2>
        <a:srgbClr val="A9A28D"/>
      </a:accent2>
      <a:accent3>
        <a:srgbClr val="DF6D07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E7293D8D-23E4-4682-94BD-B51C6C1AE10E}" vid="{F659027A-40BB-468E-82F1-3B1DF99A9B58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Larissa</Template>
  <TotalTime>39460</TotalTime>
  <Words>128</Words>
  <Application>Microsoft Macintosh PowerPoint</Application>
  <PresentationFormat>Widescreen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Symbol</vt:lpstr>
      <vt:lpstr>Times</vt:lpstr>
      <vt:lpstr>TimesNewRomanPSMT</vt:lpstr>
      <vt:lpstr>Larissa</vt:lpstr>
      <vt:lpstr>Deconvolution of RTD for compartment models via CNNs</vt:lpstr>
      <vt:lpstr>The Convection Model For Laminar Flow</vt:lpstr>
      <vt:lpstr>Dispersion Model</vt:lpstr>
      <vt:lpstr>Tank in series with recycle</vt:lpstr>
      <vt:lpstr>Cholete and Clautier</vt:lpstr>
      <vt:lpstr>The unified time delay model </vt:lpstr>
      <vt:lpstr>Adler and Hovorka</vt:lpstr>
      <vt:lpstr>Plug Flow with Recycle</vt:lpstr>
      <vt:lpstr>Ganttchart</vt:lpstr>
      <vt:lpstr>  THANK YOU!  I would like to thank Prof. Dr.-Ing. Robert Güttel, M.Sc. Hannes Stagge and M.Sc. Max Gäßler for their guidance and support.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Residence Time Distribution Analysis via Convolutional Neural Networks: A Promising Approach </dc:title>
  <dc:creator>Tuana Oyuncu</dc:creator>
  <cp:lastModifiedBy>Tuana Oyuncu</cp:lastModifiedBy>
  <cp:revision>26</cp:revision>
  <cp:lastPrinted>2015-02-13T10:13:39Z</cp:lastPrinted>
  <dcterms:created xsi:type="dcterms:W3CDTF">2024-06-29T12:46:34Z</dcterms:created>
  <dcterms:modified xsi:type="dcterms:W3CDTF">2024-08-15T15:28:40Z</dcterms:modified>
</cp:coreProperties>
</file>
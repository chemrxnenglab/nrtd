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3" r:id="rId3"/>
    <p:sldId id="284" r:id="rId4"/>
    <p:sldId id="287" r:id="rId5"/>
    <p:sldId id="290" r:id="rId6"/>
    <p:sldId id="288" r:id="rId7"/>
    <p:sldId id="289" r:id="rId8"/>
    <p:sldId id="286" r:id="rId9"/>
    <p:sldId id="281" r:id="rId10"/>
    <p:sldId id="258" r:id="rId11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FF8C49"/>
    <a:srgbClr val="00B050"/>
    <a:srgbClr val="575756"/>
    <a:srgbClr val="C1FABE"/>
    <a:srgbClr val="FF9F9D"/>
    <a:srgbClr val="FFFBB6"/>
    <a:srgbClr val="FFFFFF"/>
    <a:srgbClr val="33333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5703" autoAdjust="0"/>
  </p:normalViewPr>
  <p:slideViewPr>
    <p:cSldViewPr>
      <p:cViewPr>
        <p:scale>
          <a:sx n="114" d="100"/>
          <a:sy n="114" d="100"/>
        </p:scale>
        <p:origin x="416" y="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14.08.24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Master Thesis  |  Institute of Chemical Engineering  | 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27448" y="212727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Master Thesis|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484784"/>
            <a:ext cx="6528048" cy="333280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Deconvolution of RTD for compartment models via CNNs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Tuana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Oyuncu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15/08/2024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E625-BAD0-E2D9-7FFC-C67FD4CC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Convection Model For Laminar 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5D3B37-F29C-6429-B454-5538FD904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412776"/>
            <a:ext cx="3884600" cy="64467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D8415B-2DD1-E306-96A3-B5F6B2D2F126}"/>
              </a:ext>
            </a:extLst>
          </p:cNvPr>
          <p:cNvCxnSpPr/>
          <p:nvPr/>
        </p:nvCxnSpPr>
        <p:spPr>
          <a:xfrm flipV="1">
            <a:off x="1415480" y="1052672"/>
            <a:ext cx="1152128" cy="576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B6DFED-7BA0-3171-6D71-5B1977A9DC02}"/>
              </a:ext>
            </a:extLst>
          </p:cNvPr>
          <p:cNvSpPr txBox="1"/>
          <p:nvPr/>
        </p:nvSpPr>
        <p:spPr>
          <a:xfrm>
            <a:off x="2711624" y="863392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Gamma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1F44DD-1868-1303-A9D8-C962C86AE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381" y="2057454"/>
            <a:ext cx="3884600" cy="35544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8326A4B-4C83-9DDB-0663-D872F7A2336C}"/>
              </a:ext>
            </a:extLst>
          </p:cNvPr>
          <p:cNvSpPr txBox="1"/>
          <p:nvPr/>
        </p:nvSpPr>
        <p:spPr>
          <a:xfrm>
            <a:off x="8544272" y="1666057"/>
            <a:ext cx="1352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Laminarflow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D91C01E-1AD8-5933-C8A8-9FEE046A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2417558"/>
            <a:ext cx="3312368" cy="375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9EAE-5868-689D-5160-595E673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87277-D3A4-5893-7864-23C7515A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272109"/>
            <a:ext cx="3886200" cy="105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F67D6-1FB6-A9BD-8A1F-7B3829ABFF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5" b="12289"/>
          <a:stretch/>
        </p:blipFill>
        <p:spPr>
          <a:xfrm>
            <a:off x="4358763" y="706323"/>
            <a:ext cx="4536504" cy="2743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8BC70B-2683-C5BE-38A4-32A3719D99A4}"/>
              </a:ext>
            </a:extLst>
          </p:cNvPr>
          <p:cNvSpPr txBox="1"/>
          <p:nvPr/>
        </p:nvSpPr>
        <p:spPr>
          <a:xfrm>
            <a:off x="8875196" y="1557668"/>
            <a:ext cx="265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Do I need to normalize it?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CB3976-A305-EE0E-756C-54E4CEC98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2399597"/>
            <a:ext cx="3528392" cy="4264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8893C7-919C-1CB5-A9DF-44017BCAA9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744" y="3401287"/>
            <a:ext cx="4097568" cy="36089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11EE71-C4C0-EB7E-83AE-FFE3EC31B2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29" y="2340579"/>
            <a:ext cx="4318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42F-838D-C6AD-117C-AB2A816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3A331-7521-93A3-93A0-948D2BCB8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23" r="9236" b="9613"/>
          <a:stretch/>
        </p:blipFill>
        <p:spPr>
          <a:xfrm>
            <a:off x="5117386" y="1196752"/>
            <a:ext cx="4913156" cy="97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52B86-3A99-C201-61A4-DCA0BB7F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1" r="5704"/>
          <a:stretch/>
        </p:blipFill>
        <p:spPr>
          <a:xfrm>
            <a:off x="623392" y="980728"/>
            <a:ext cx="3700666" cy="2069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59490-83DB-A3E5-6C71-C694270C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548" y="1234478"/>
            <a:ext cx="1675377" cy="1016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179177-1983-18E0-B90E-76D2BFEE5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802" y="3050037"/>
            <a:ext cx="4268841" cy="34864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9CD533-A916-847D-4004-383490C5E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92" y="3060558"/>
            <a:ext cx="4268841" cy="28167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039183-6D78-12AD-731F-8D82987BED0E}"/>
              </a:ext>
            </a:extLst>
          </p:cNvPr>
          <p:cNvSpPr txBox="1"/>
          <p:nvPr/>
        </p:nvSpPr>
        <p:spPr>
          <a:xfrm>
            <a:off x="1343472" y="299695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>
                <a:sym typeface="Wingdings" pitchFamily="2" charset="2"/>
              </a:rPr>
              <a:t>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0434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A16-77D6-8234-F97F-6EC09049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Cholete and Clautier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07E6E-179E-668F-4681-5BCB7202A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0" t="10050" r="16618"/>
          <a:stretch/>
        </p:blipFill>
        <p:spPr>
          <a:xfrm>
            <a:off x="1055440" y="1052672"/>
            <a:ext cx="2448272" cy="212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A36E1-1C13-504A-CC23-A838F4A2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92" y="1412776"/>
            <a:ext cx="6040014" cy="1005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580429-9FF2-E09E-F1AD-DD62F2BEA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3684298"/>
            <a:ext cx="3276600" cy="209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AC8D99-8659-AE3C-3252-70BFD7FA7B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75465"/>
            <a:ext cx="4769582" cy="92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67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6F-4F12-8752-8300-0DB6F74B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unified time delay model</a:t>
            </a:r>
            <a:br>
              <a:rPr lang="en-TR" dirty="0"/>
            </a:br>
            <a:endParaRPr lang="en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A6049-E2B6-0998-8301-587D2D3361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"/>
          <a:stretch/>
        </p:blipFill>
        <p:spPr>
          <a:xfrm>
            <a:off x="623392" y="1184981"/>
            <a:ext cx="4872319" cy="161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83F28-ABD9-B339-C503-D626F40A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85" y="728544"/>
            <a:ext cx="4008222" cy="912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A4758-6493-DD5F-9C73-19E6E914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1596661"/>
            <a:ext cx="4680520" cy="5932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58EE3-898E-90B4-5996-F08B35335934}"/>
              </a:ext>
            </a:extLst>
          </p:cNvPr>
          <p:cNvSpPr txBox="1"/>
          <p:nvPr/>
        </p:nvSpPr>
        <p:spPr>
          <a:xfrm>
            <a:off x="7104112" y="2549239"/>
            <a:ext cx="259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Inverse L</a:t>
            </a:r>
            <a:r>
              <a:rPr lang="en-US" dirty="0"/>
              <a:t>a</a:t>
            </a:r>
            <a:r>
              <a:rPr lang="en-TR" dirty="0"/>
              <a:t>place transform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E3668-0102-CD3E-DF27-C4B6956B85AA}"/>
              </a:ext>
            </a:extLst>
          </p:cNvPr>
          <p:cNvSpPr/>
          <p:nvPr/>
        </p:nvSpPr>
        <p:spPr>
          <a:xfrm>
            <a:off x="6926060" y="2409869"/>
            <a:ext cx="2952328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809A51-5B02-9BEA-3F6A-F5B21C342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976" y="3480635"/>
            <a:ext cx="4038600" cy="2374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935610-0769-93BB-517A-70EA6B76BAFF}"/>
              </a:ext>
            </a:extLst>
          </p:cNvPr>
          <p:cNvSpPr txBox="1"/>
          <p:nvPr/>
        </p:nvSpPr>
        <p:spPr>
          <a:xfrm>
            <a:off x="10789227" y="2272240"/>
            <a:ext cx="779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J=2</a:t>
            </a:r>
          </a:p>
          <a:p>
            <a:pPr algn="ctr"/>
            <a:r>
              <a:rPr lang="en-US" dirty="0"/>
              <a:t>T</a:t>
            </a:r>
            <a:r>
              <a:rPr lang="en-TR" dirty="0"/>
              <a:t>au=1</a:t>
            </a:r>
          </a:p>
          <a:p>
            <a:pPr algn="ctr"/>
            <a:r>
              <a:rPr lang="en-US" dirty="0"/>
              <a:t>A</a:t>
            </a:r>
            <a:r>
              <a:rPr lang="en-TR" dirty="0"/>
              <a:t>lfa=1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E2EB1-A8D7-33A1-9C70-2D22CCFE2E79}"/>
              </a:ext>
            </a:extLst>
          </p:cNvPr>
          <p:cNvSpPr txBox="1"/>
          <p:nvPr/>
        </p:nvSpPr>
        <p:spPr>
          <a:xfrm>
            <a:off x="1343472" y="3686061"/>
            <a:ext cx="395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How can I be sure about the coefficients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931EE-98D6-D25D-FEE5-6D2ECE29C5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8" y="2917116"/>
            <a:ext cx="60579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37A5-1155-082B-D4B7-337E4237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54747-89E5-17B2-2E12-45929424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484784"/>
            <a:ext cx="3949204" cy="215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530B-8A90-1F37-25EE-ACAA10FC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59" y="1280831"/>
            <a:ext cx="4438314" cy="1521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F0D1A-820C-6D5D-E5EB-CD14E8A40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3030045"/>
            <a:ext cx="3511845" cy="1521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DCB8AC-80B5-E311-39A2-7BD1078F3F19}"/>
              </a:ext>
            </a:extLst>
          </p:cNvPr>
          <p:cNvSpPr txBox="1"/>
          <p:nvPr/>
        </p:nvSpPr>
        <p:spPr>
          <a:xfrm>
            <a:off x="10456528" y="3317297"/>
            <a:ext cx="1682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TR" dirty="0"/>
              <a:t>ll =1 </a:t>
            </a:r>
          </a:p>
          <a:p>
            <a:r>
              <a:rPr lang="en-US" dirty="0"/>
              <a:t>E</a:t>
            </a:r>
            <a:r>
              <a:rPr lang="en-TR" dirty="0"/>
              <a:t>xcept beta=0.1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31AB51-296F-EF1B-D2BE-D709BD0CA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4551099"/>
            <a:ext cx="44323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9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6D8C-63AB-D0DF-9AB4-FAE2658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Plug Flow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F0B22-BD71-4B82-BFC9-33504D9B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9" b="11965"/>
          <a:stretch/>
        </p:blipFill>
        <p:spPr>
          <a:xfrm>
            <a:off x="335360" y="1196752"/>
            <a:ext cx="4417925" cy="1146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1C23D-75E1-CBDD-6C23-104419A3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70" b="17846"/>
          <a:stretch/>
        </p:blipFill>
        <p:spPr>
          <a:xfrm>
            <a:off x="4990445" y="1430859"/>
            <a:ext cx="4896544" cy="8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4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1167-CD00-BD64-3F17-529676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Ganttchart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A45B3-FFC9-7CD9-0515-012ADB59D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4" y="2317965"/>
            <a:ext cx="11568112" cy="2222069"/>
          </a:xfrm>
        </p:spPr>
      </p:pic>
    </p:spTree>
    <p:extLst>
      <p:ext uri="{BB962C8B-B14F-4D97-AF65-F5344CB8AC3E}">
        <p14:creationId xmlns:p14="http://schemas.microsoft.com/office/powerpoint/2010/main" val="101616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663952" y="1268760"/>
            <a:ext cx="6528048" cy="3332800"/>
          </a:xfrm>
        </p:spPr>
        <p:txBody>
          <a:bodyPr/>
          <a:lstStyle/>
          <a:p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b="1" dirty="0">
                <a:effectLst/>
                <a:latin typeface="TimesNewRomanPSMT"/>
              </a:rPr>
              <a:t>THANK YOU!</a:t>
            </a:r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sz="1800" dirty="0">
                <a:effectLst/>
                <a:latin typeface="TimesNewRomanPSMT"/>
              </a:rPr>
              <a:t>I would like to thank Prof. Dr.-Ing. Robert </a:t>
            </a:r>
            <a:r>
              <a:rPr lang="en-US" sz="1800" dirty="0" err="1">
                <a:effectLst/>
                <a:latin typeface="TimesNewRomanPSMT"/>
              </a:rPr>
              <a:t>Güttel</a:t>
            </a:r>
            <a:r>
              <a:rPr lang="en-US" sz="1800" dirty="0">
                <a:effectLst/>
                <a:latin typeface="TimesNewRomanPSMT"/>
              </a:rPr>
              <a:t>, M.Sc. Hannes </a:t>
            </a:r>
            <a:r>
              <a:rPr lang="en-US" sz="1800" dirty="0" err="1">
                <a:effectLst/>
                <a:latin typeface="TimesNewRomanPSMT"/>
              </a:rPr>
              <a:t>Stagge</a:t>
            </a:r>
            <a:r>
              <a:rPr lang="en-US" sz="1800" dirty="0">
                <a:effectLst/>
                <a:latin typeface="TimesNewRomanPSMT"/>
              </a:rPr>
              <a:t> and M.Sc. Max </a:t>
            </a:r>
            <a:r>
              <a:rPr lang="en-US" sz="1800" dirty="0" err="1">
                <a:effectLst/>
                <a:latin typeface="TimesNewRomanPSMT"/>
              </a:rPr>
              <a:t>Gäßler</a:t>
            </a:r>
            <a:r>
              <a:rPr lang="en-US" sz="1800" dirty="0">
                <a:effectLst/>
                <a:latin typeface="TimesNewRomanPSMT"/>
              </a:rPr>
              <a:t> for their guidance and support.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50955</TotalTime>
  <Words>128</Words>
  <Application>Microsoft Macintosh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Symbol</vt:lpstr>
      <vt:lpstr>Times</vt:lpstr>
      <vt:lpstr>TimesNewRomanPSMT</vt:lpstr>
      <vt:lpstr>Larissa</vt:lpstr>
      <vt:lpstr>Deconvolution of RTD for compartment models via CNNs</vt:lpstr>
      <vt:lpstr>The Convection Model For Laminar Flow</vt:lpstr>
      <vt:lpstr>Dispersion Model</vt:lpstr>
      <vt:lpstr>Tank in series with recycle</vt:lpstr>
      <vt:lpstr>Cholete and Clautier</vt:lpstr>
      <vt:lpstr>The unified time delay model </vt:lpstr>
      <vt:lpstr>Adler and Hovorka</vt:lpstr>
      <vt:lpstr>Plug Flow with Recycle</vt:lpstr>
      <vt:lpstr>Ganttchart</vt:lpstr>
      <vt:lpstr>  THANK YOU!  I would like to thank Prof. Dr.-Ing. Robert Güttel, M.Sc. Hannes Stagge and M.Sc. Max Gäßler for their guidance and support.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Residence Time Distribution Analysis via Convolutional Neural Networks: A Promising Approach </dc:title>
  <dc:creator>Tuana Oyuncu</dc:creator>
  <cp:lastModifiedBy>Tuana Oyuncu</cp:lastModifiedBy>
  <cp:revision>26</cp:revision>
  <cp:lastPrinted>2015-02-13T10:13:39Z</cp:lastPrinted>
  <dcterms:created xsi:type="dcterms:W3CDTF">2024-06-29T12:46:34Z</dcterms:created>
  <dcterms:modified xsi:type="dcterms:W3CDTF">2024-08-23T15:04:25Z</dcterms:modified>
</cp:coreProperties>
</file>
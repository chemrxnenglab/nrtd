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76" r:id="rId9"/>
    <p:sldId id="274" r:id="rId10"/>
    <p:sldId id="281" r:id="rId11"/>
    <p:sldId id="258" r:id="rId12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7" autoAdjust="0"/>
    <p:restoredTop sz="95703" autoAdjust="0"/>
  </p:normalViewPr>
  <p:slideViewPr>
    <p:cSldViewPr>
      <p:cViewPr>
        <p:scale>
          <a:sx n="103" d="100"/>
          <a:sy n="103" d="100"/>
        </p:scale>
        <p:origin x="840" y="6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06/08/2024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DD5D2-E5FB-C082-C91A-B592F6A2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6" y="1451845"/>
            <a:ext cx="5015436" cy="15841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34A8CE-8317-0C4C-636E-568F504C2D9D}"/>
              </a:ext>
            </a:extLst>
          </p:cNvPr>
          <p:cNvCxnSpPr/>
          <p:nvPr/>
        </p:nvCxnSpPr>
        <p:spPr>
          <a:xfrm>
            <a:off x="5541052" y="2243933"/>
            <a:ext cx="1656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7EFBD05-891B-7C32-D9FB-E665E5899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8" t="4401" r="57411"/>
          <a:stretch/>
        </p:blipFill>
        <p:spPr>
          <a:xfrm>
            <a:off x="8004212" y="1155048"/>
            <a:ext cx="3024336" cy="1811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E6814-6A7A-E917-342C-2415AE40AA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07" t="4401" r="8309"/>
          <a:stretch/>
        </p:blipFill>
        <p:spPr>
          <a:xfrm>
            <a:off x="8040216" y="3212976"/>
            <a:ext cx="2952328" cy="181160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12B8CF5-524F-AF0B-0ADA-7158EE0D231C}"/>
              </a:ext>
            </a:extLst>
          </p:cNvPr>
          <p:cNvSpPr/>
          <p:nvPr/>
        </p:nvSpPr>
        <p:spPr>
          <a:xfrm>
            <a:off x="7788188" y="869850"/>
            <a:ext cx="3600400" cy="2381996"/>
          </a:xfrm>
          <a:prstGeom prst="ellipse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DAA0D-9023-932A-0088-4B20D215536E}"/>
              </a:ext>
            </a:extLst>
          </p:cNvPr>
          <p:cNvSpPr/>
          <p:nvPr/>
        </p:nvSpPr>
        <p:spPr>
          <a:xfrm>
            <a:off x="356476" y="1451845"/>
            <a:ext cx="1548172" cy="792088"/>
          </a:xfrm>
          <a:prstGeom prst="rect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B8AF61-45D8-A962-E2DD-097F37F8FF97}"/>
              </a:ext>
            </a:extLst>
          </p:cNvPr>
          <p:cNvGrpSpPr/>
          <p:nvPr/>
        </p:nvGrpSpPr>
        <p:grpSpPr>
          <a:xfrm>
            <a:off x="479376" y="3062733"/>
            <a:ext cx="1636020" cy="369332"/>
            <a:chOff x="479375" y="3584350"/>
            <a:chExt cx="163602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498C48-A833-3343-602F-1E03994E83F2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13" name="Striped Right Arrow 12">
              <a:extLst>
                <a:ext uri="{FF2B5EF4-FFF2-40B4-BE49-F238E27FC236}">
                  <a16:creationId xmlns:a16="http://schemas.microsoft.com/office/drawing/2014/main" id="{40EDC0E7-6808-6780-E571-8A55570216A7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D0ADD23-78F0-3CE5-0FFD-1466E20CEACF}"/>
              </a:ext>
            </a:extLst>
          </p:cNvPr>
          <p:cNvSpPr txBox="1"/>
          <p:nvPr/>
        </p:nvSpPr>
        <p:spPr>
          <a:xfrm>
            <a:off x="356476" y="3511997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- Low Re for the tubes, model suggests flow for narrow pipes or channels with low 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F7D7B7-B45C-151E-1936-F55E2553F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0" y="4435327"/>
            <a:ext cx="3258639" cy="2024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B00D8E-464E-6EBE-AC5E-E3FEDE133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251" y="2643991"/>
            <a:ext cx="2906518" cy="42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87277-D3A4-5893-7864-23C7515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772816"/>
            <a:ext cx="3886200" cy="105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F67D6-1FB6-A9BD-8A1F-7B3829ABF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5" b="12289"/>
          <a:stretch/>
        </p:blipFill>
        <p:spPr>
          <a:xfrm>
            <a:off x="4727848" y="954708"/>
            <a:ext cx="6192688" cy="37444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2BDD8F6-8408-473B-162F-1C475660C2B6}"/>
              </a:ext>
            </a:extLst>
          </p:cNvPr>
          <p:cNvGrpSpPr/>
          <p:nvPr/>
        </p:nvGrpSpPr>
        <p:grpSpPr>
          <a:xfrm>
            <a:off x="603356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7B4332-2F95-943F-CE13-03B9332F91D6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52AD9C5D-B149-1D55-6DA9-0D1BB9535CD8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31E751-15CE-4C3C-D33A-BB9EFFDBE243}"/>
              </a:ext>
            </a:extLst>
          </p:cNvPr>
          <p:cNvSpPr txBox="1"/>
          <p:nvPr/>
        </p:nvSpPr>
        <p:spPr>
          <a:xfrm>
            <a:off x="352901" y="3846418"/>
            <a:ext cx="464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Slow rise might be the reason of the dispersion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1445CA-E2AB-B115-E36B-C9A2C93A7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56" y="4448502"/>
            <a:ext cx="3258639" cy="20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463166" y="1229183"/>
            <a:ext cx="2448272" cy="212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A36E1-1C13-504A-CC23-A838F4A2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38" y="1335872"/>
            <a:ext cx="6040014" cy="10056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9FA499E-558D-F41D-23EB-55D07B9EFE67}"/>
              </a:ext>
            </a:extLst>
          </p:cNvPr>
          <p:cNvGrpSpPr/>
          <p:nvPr/>
        </p:nvGrpSpPr>
        <p:grpSpPr>
          <a:xfrm>
            <a:off x="623392" y="3853261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1A904D-5D26-4D64-EABD-8C133D65CAC0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2092F311-6AD2-FCF9-4062-E819FE7A84DB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F305AA-12D9-4487-1EEB-5E2D9F580B08}"/>
              </a:ext>
            </a:extLst>
          </p:cNvPr>
          <p:cNvSpPr txBox="1"/>
          <p:nvPr/>
        </p:nvSpPr>
        <p:spPr>
          <a:xfrm>
            <a:off x="479376" y="4469975"/>
            <a:ext cx="6133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Since the model considers dead zone and bypass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fit well if the system has a delayed response and dispersion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5FDB8-279D-ECFE-5E1C-7E1FBEEF41CB}"/>
              </a:ext>
            </a:extLst>
          </p:cNvPr>
          <p:cNvSpPr txBox="1"/>
          <p:nvPr/>
        </p:nvSpPr>
        <p:spPr>
          <a:xfrm>
            <a:off x="458195" y="5150705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tr-TR" dirty="0"/>
              <a:t>Alfa (bypass) </a:t>
            </a:r>
            <a:r>
              <a:rPr lang="tr-TR" dirty="0" err="1"/>
              <a:t>and</a:t>
            </a:r>
            <a:r>
              <a:rPr lang="tr-TR" dirty="0"/>
              <a:t> Beta (</a:t>
            </a:r>
            <a:r>
              <a:rPr lang="tr-TR" dirty="0" err="1"/>
              <a:t>dead</a:t>
            </a:r>
            <a:r>
              <a:rPr lang="tr-TR" dirty="0"/>
              <a:t> </a:t>
            </a:r>
            <a:r>
              <a:rPr lang="tr-TR" dirty="0" err="1"/>
              <a:t>zone</a:t>
            </a:r>
            <a:r>
              <a:rPr lang="tr-TR" dirty="0"/>
              <a:t>)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fractions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in 0-1 </a:t>
            </a:r>
            <a:r>
              <a:rPr lang="tr-TR" dirty="0" err="1"/>
              <a:t>range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E75D5-DD53-FC89-64BB-1011E7DFA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85742" y="2217071"/>
            <a:ext cx="3803598" cy="46576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993237-EFB5-5E19-D16F-5634CC4FF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549" y="2605124"/>
            <a:ext cx="2239932" cy="1376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CECF7A-863C-D07A-F64B-A1CB6B350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821" y="2588916"/>
            <a:ext cx="2240746" cy="1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3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35360" y="1196752"/>
            <a:ext cx="4417925" cy="114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4990445" y="1430859"/>
            <a:ext cx="4896544" cy="88192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DB9F36-21AC-4478-580F-530C59958483}"/>
              </a:ext>
            </a:extLst>
          </p:cNvPr>
          <p:cNvGrpSpPr/>
          <p:nvPr/>
        </p:nvGrpSpPr>
        <p:grpSpPr>
          <a:xfrm>
            <a:off x="605050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ABF154-6A9C-4650-04BC-23219763D8F3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AA109FA8-50F4-A218-D2C3-E448B011A21E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744460-3C2C-7167-431C-7C04ECAC1F4E}"/>
              </a:ext>
            </a:extLst>
          </p:cNvPr>
          <p:cNvSpPr txBox="1"/>
          <p:nvPr/>
        </p:nvSpPr>
        <p:spPr>
          <a:xfrm>
            <a:off x="493314" y="3713453"/>
            <a:ext cx="10203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Plug flow tends to have a sharp response but recycle introduces oscillation in RTD</a:t>
            </a:r>
          </a:p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en-TR" dirty="0"/>
              <a:t>R should be in the range of 0-1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955D21-157F-17F6-FAF5-B596AC76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4429458"/>
            <a:ext cx="3251070" cy="19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5087888" y="1318517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777" y="2556405"/>
            <a:ext cx="1675377" cy="101661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E337A-723E-D3E5-7956-E38DBDA0C928}"/>
              </a:ext>
            </a:extLst>
          </p:cNvPr>
          <p:cNvGrpSpPr/>
          <p:nvPr/>
        </p:nvGrpSpPr>
        <p:grpSpPr>
          <a:xfrm>
            <a:off x="623392" y="3525673"/>
            <a:ext cx="1636020" cy="369332"/>
            <a:chOff x="479375" y="3584350"/>
            <a:chExt cx="163602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4A2E06-4CA1-1B10-81BD-8F4E7B8C09AA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9" name="Striped Right Arrow 8">
              <a:extLst>
                <a:ext uri="{FF2B5EF4-FFF2-40B4-BE49-F238E27FC236}">
                  <a16:creationId xmlns:a16="http://schemas.microsoft.com/office/drawing/2014/main" id="{E712E39B-5511-D11F-0B43-7707FEB8660F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0D923B3-67AB-4695-25E8-929D3E1AE810}"/>
              </a:ext>
            </a:extLst>
          </p:cNvPr>
          <p:cNvSpPr txBox="1"/>
          <p:nvPr/>
        </p:nvSpPr>
        <p:spPr>
          <a:xfrm>
            <a:off x="479376" y="4077072"/>
            <a:ext cx="5490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TR" dirty="0"/>
              <a:t>Each tank represents a stage where mixing occurs before the substance moves to the next stage. This creates a cumulative delay effect, loading to a gradual increase in the output concentration. Each oscillation represents a cycle through the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1CAC1-E66F-B22B-D56C-F85E13065325}"/>
              </a:ext>
            </a:extLst>
          </p:cNvPr>
          <p:cNvSpPr txBox="1"/>
          <p:nvPr/>
        </p:nvSpPr>
        <p:spPr>
          <a:xfrm>
            <a:off x="469883" y="5734997"/>
            <a:ext cx="5821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Beta and R is a fraction so they should be in the range of 0-1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 &amp; 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90594-C564-68DE-4EBD-25E38AA1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412776"/>
            <a:ext cx="3949204" cy="215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E8CC1-7543-09FA-4777-F60585D2A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951" y="1208823"/>
            <a:ext cx="4438314" cy="1521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77"/>
          <a:stretch/>
        </p:blipFill>
        <p:spPr>
          <a:xfrm>
            <a:off x="767408" y="3789040"/>
            <a:ext cx="6072898" cy="2016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306" y="4149080"/>
            <a:ext cx="5182344" cy="1180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A4758-6493-DD5F-9C73-19E6E9146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104" y="5481132"/>
            <a:ext cx="4680520" cy="593255"/>
          </a:xfrm>
          <a:prstGeom prst="rect">
            <a:avLst/>
          </a:prstGeom>
        </p:spPr>
      </p:pic>
      <p:sp>
        <p:nvSpPr>
          <p:cNvPr id="9" name="&quot;No&quot; Symbol 8">
            <a:extLst>
              <a:ext uri="{FF2B5EF4-FFF2-40B4-BE49-F238E27FC236}">
                <a16:creationId xmlns:a16="http://schemas.microsoft.com/office/drawing/2014/main" id="{932529E8-8A26-343C-2484-374278732AD1}"/>
              </a:ext>
            </a:extLst>
          </p:cNvPr>
          <p:cNvSpPr/>
          <p:nvPr/>
        </p:nvSpPr>
        <p:spPr>
          <a:xfrm>
            <a:off x="7032104" y="2852936"/>
            <a:ext cx="936104" cy="936104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8217845" y="3190382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3FF4-DD90-EBA7-897A-A0C210F6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A37FF1-91E7-4171-6BB7-5155A90A497F}"/>
              </a:ext>
            </a:extLst>
          </p:cNvPr>
          <p:cNvGrpSpPr/>
          <p:nvPr/>
        </p:nvGrpSpPr>
        <p:grpSpPr>
          <a:xfrm>
            <a:off x="0" y="1052672"/>
            <a:ext cx="7601334" cy="3665435"/>
            <a:chOff x="1235460" y="1052672"/>
            <a:chExt cx="7601334" cy="36654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034AE4-15F5-DDE2-AACF-137AD537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672" y="1052672"/>
              <a:ext cx="5693122" cy="366543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D2DFE8-2C21-5F8B-86E2-C0EE066A38FE}"/>
                </a:ext>
              </a:extLst>
            </p:cNvPr>
            <p:cNvSpPr txBox="1"/>
            <p:nvPr/>
          </p:nvSpPr>
          <p:spPr>
            <a:xfrm>
              <a:off x="1235460" y="2519957"/>
              <a:ext cx="12961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TR" dirty="0"/>
                <a:t>Mean residence time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1157F46-9CAD-3142-F9C4-80B87E1080FD}"/>
                </a:ext>
              </a:extLst>
            </p:cNvPr>
            <p:cNvCxnSpPr/>
            <p:nvPr/>
          </p:nvCxnSpPr>
          <p:spPr>
            <a:xfrm flipH="1">
              <a:off x="2567608" y="2863387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FB32F79-4BE6-4BBE-2183-EEA19728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2634828"/>
            <a:ext cx="59182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008EA-7BC3-C0B0-F035-6954B2A1F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1" y="1154357"/>
            <a:ext cx="5987515" cy="29268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4F840-37B7-8A46-C0FB-14EDD185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687248"/>
            <a:ext cx="11568608" cy="576000"/>
          </a:xfrm>
        </p:spPr>
        <p:txBody>
          <a:bodyPr/>
          <a:lstStyle/>
          <a:p>
            <a:r>
              <a:rPr lang="en-TR" dirty="0"/>
              <a:t>Study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6A96EC-03F3-1FB8-193B-A3391F18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3529"/>
            <a:ext cx="5125101" cy="32995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68CD88-0590-82AB-49E9-7BB98EFBF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983" y="3943982"/>
            <a:ext cx="4710410" cy="29268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D7822F-6A3E-B2BA-470C-EE42E94885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/>
          <a:stretch/>
        </p:blipFill>
        <p:spPr>
          <a:xfrm>
            <a:off x="4132746" y="4021614"/>
            <a:ext cx="3960440" cy="27074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5F96BF-23D3-82D4-478C-08128D234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46" y="4021614"/>
            <a:ext cx="4337429" cy="283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6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26537</TotalTime>
  <Words>311</Words>
  <Application>Microsoft Macintosh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-webkit-standard</vt:lpstr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Cholete and Clautier</vt:lpstr>
      <vt:lpstr>Plug Flow with Recycle</vt:lpstr>
      <vt:lpstr>Tank in series with recycle</vt:lpstr>
      <vt:lpstr>Adler and Hovorka &amp; The unified time delay model </vt:lpstr>
      <vt:lpstr>Tank in series</vt:lpstr>
      <vt:lpstr>Study </vt:lpstr>
      <vt:lpstr>Ganttchart</vt:lpstr>
      <vt:lpstr>  THANK YOU!  I would like to thank Prof. Dr.-Ing. Robert Güttel, M.Sc. Hannes Stagge and M.Sc. Max Gäßler for their guidance and support.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19</cp:revision>
  <cp:lastPrinted>2015-02-13T10:13:39Z</cp:lastPrinted>
  <dcterms:created xsi:type="dcterms:W3CDTF">2024-06-29T12:46:34Z</dcterms:created>
  <dcterms:modified xsi:type="dcterms:W3CDTF">2024-08-06T11:10:31Z</dcterms:modified>
</cp:coreProperties>
</file>
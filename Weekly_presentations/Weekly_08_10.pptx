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83" r:id="rId3"/>
    <p:sldId id="284" r:id="rId4"/>
    <p:sldId id="291" r:id="rId5"/>
    <p:sldId id="289" r:id="rId6"/>
    <p:sldId id="292" r:id="rId7"/>
    <p:sldId id="290" r:id="rId8"/>
    <p:sldId id="286" r:id="rId9"/>
    <p:sldId id="287" r:id="rId10"/>
    <p:sldId id="288" r:id="rId11"/>
    <p:sldId id="258" r:id="rId12"/>
    <p:sldId id="281" r:id="rId13"/>
  </p:sldIdLst>
  <p:sldSz cx="12192000" cy="6858000"/>
  <p:notesSz cx="6797675" cy="985678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6D07"/>
    <a:srgbClr val="FF8C49"/>
    <a:srgbClr val="00B050"/>
    <a:srgbClr val="575756"/>
    <a:srgbClr val="C1FABE"/>
    <a:srgbClr val="FF9F9D"/>
    <a:srgbClr val="FFFBB6"/>
    <a:srgbClr val="FFFFFF"/>
    <a:srgbClr val="333333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5703" autoAdjust="0"/>
  </p:normalViewPr>
  <p:slideViewPr>
    <p:cSldViewPr>
      <p:cViewPr>
        <p:scale>
          <a:sx n="151" d="100"/>
          <a:sy n="151" d="100"/>
        </p:scale>
        <p:origin x="144" y="-7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2D906-12E9-42EA-8A02-A1A7582BC19D}" type="datetimeFigureOut">
              <a:rPr lang="de-DE" smtClean="0"/>
              <a:t>27.08.24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39775"/>
            <a:ext cx="6569075" cy="36957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681974"/>
            <a:ext cx="5438140" cy="443555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362238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362238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63BD42-9C78-4E0C-AEAC-2DC2060B56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396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tiff"/><Relationship Id="rId10" Type="http://schemas.openxmlformats.org/officeDocument/2006/relationships/image" Target="../media/image8.emf"/><Relationship Id="rId4" Type="http://schemas.openxmlformats.org/officeDocument/2006/relationships/image" Target="../media/image2.png"/><Relationship Id="rId9" Type="http://schemas.openxmlformats.org/officeDocument/2006/relationships/image" Target="../media/image7.tiff"/><Relationship Id="rId14" Type="http://schemas.openxmlformats.org/officeDocument/2006/relationships/image" Target="../media/image1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663952" y="1133999"/>
            <a:ext cx="6528048" cy="3332800"/>
          </a:xfrm>
        </p:spPr>
        <p:txBody>
          <a:bodyPr anchor="ctr"/>
          <a:lstStyle>
            <a:lvl1pPr>
              <a:defRPr lang="de-DE" sz="2800" kern="1200">
                <a:solidFill>
                  <a:srgbClr val="DF6D07"/>
                </a:solidFill>
                <a:latin typeface="Arial" charset="0"/>
                <a:ea typeface="ＭＳ Ｐゴシック" charset="0"/>
                <a:cs typeface="+mn-cs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663952" y="4493853"/>
            <a:ext cx="6528048" cy="1440000"/>
          </a:xfrm>
        </p:spPr>
        <p:txBody>
          <a:bodyPr anchor="ctr">
            <a:normAutofit/>
          </a:bodyPr>
          <a:lstStyle>
            <a:lvl1pPr marL="0" indent="0" algn="ctr">
              <a:buNone/>
              <a:defRPr lang="de-DE" sz="2000" kern="1200" smtClean="0">
                <a:solidFill>
                  <a:srgbClr val="575756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938A86B-3E09-4560-BF95-5ACF3C5FEC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248" y="54000"/>
            <a:ext cx="3804035" cy="1080000"/>
          </a:xfrm>
          <a:prstGeom prst="rect">
            <a:avLst/>
          </a:prstGeom>
        </p:spPr>
      </p:pic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B1ED4453-6D94-47FE-91F1-82B7443D8BC5}"/>
              </a:ext>
            </a:extLst>
          </p:cNvPr>
          <p:cNvGrpSpPr/>
          <p:nvPr userDrawn="1"/>
        </p:nvGrpSpPr>
        <p:grpSpPr>
          <a:xfrm>
            <a:off x="0" y="3947414"/>
            <a:ext cx="5663952" cy="1929858"/>
            <a:chOff x="0" y="4950000"/>
            <a:chExt cx="5663952" cy="1929858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A63DA0AD-E536-428B-959F-0EF52B3BB110}"/>
                </a:ext>
              </a:extLst>
            </p:cNvPr>
            <p:cNvSpPr/>
            <p:nvPr userDrawn="1"/>
          </p:nvSpPr>
          <p:spPr>
            <a:xfrm>
              <a:off x="0" y="4950000"/>
              <a:ext cx="5663952" cy="540000"/>
            </a:xfrm>
            <a:prstGeom prst="rect">
              <a:avLst/>
            </a:prstGeom>
            <a:solidFill>
              <a:srgbClr val="5757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multi-phase reactions &amp; reactors</a:t>
              </a:r>
            </a:p>
          </p:txBody>
        </p:sp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46AC0206-E656-4BAD-9CEA-7021AF68EF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89999"/>
              <a:ext cx="3145630" cy="1368001"/>
            </a:xfrm>
            <a:prstGeom prst="rect">
              <a:avLst/>
            </a:prstGeom>
          </p:spPr>
        </p:pic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A1B1F893-6F0B-43EB-B4FA-3EBF7B4F2A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82787" y="5490000"/>
              <a:ext cx="2581165" cy="1389858"/>
            </a:xfrm>
            <a:prstGeom prst="rect">
              <a:avLst/>
            </a:prstGeom>
          </p:spPr>
        </p:pic>
      </p:grp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37F7BF5-7E60-40E7-9FF3-9161852A5F08}"/>
              </a:ext>
            </a:extLst>
          </p:cNvPr>
          <p:cNvGrpSpPr/>
          <p:nvPr userDrawn="1"/>
        </p:nvGrpSpPr>
        <p:grpSpPr>
          <a:xfrm>
            <a:off x="0" y="-4148"/>
            <a:ext cx="5663952" cy="1929858"/>
            <a:chOff x="0" y="1134000"/>
            <a:chExt cx="5663952" cy="1929858"/>
          </a:xfrm>
        </p:grpSpPr>
        <p:pic>
          <p:nvPicPr>
            <p:cNvPr id="32" name="Grafik 31" descr="Ein Bild, das Essen enthält.&#10;&#10;Automatisch generierte Beschreibung">
              <a:extLst>
                <a:ext uri="{FF2B5EF4-FFF2-40B4-BE49-F238E27FC236}">
                  <a16:creationId xmlns:a16="http://schemas.microsoft.com/office/drawing/2014/main" id="{98C24E7E-85D2-4352-A382-CF78CC2C7D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173" t="13580" r="21356" b="17998"/>
            <a:stretch/>
          </p:blipFill>
          <p:spPr>
            <a:xfrm>
              <a:off x="1518782" y="1665514"/>
              <a:ext cx="1389857" cy="1389857"/>
            </a:xfrm>
            <a:prstGeom prst="rect">
              <a:avLst/>
            </a:prstGeom>
          </p:spPr>
        </p:pic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EFD4168-01B7-46E4-A6FE-1409051501AB}"/>
                </a:ext>
              </a:extLst>
            </p:cNvPr>
            <p:cNvSpPr/>
            <p:nvPr userDrawn="1"/>
          </p:nvSpPr>
          <p:spPr>
            <a:xfrm>
              <a:off x="0" y="1134000"/>
              <a:ext cx="5663952" cy="540000"/>
            </a:xfrm>
            <a:prstGeom prst="rect">
              <a:avLst/>
            </a:prstGeom>
            <a:solidFill>
              <a:srgbClr val="5757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0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nanostructured, bi-functional catalysts</a:t>
              </a:r>
            </a:p>
          </p:txBody>
        </p:sp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E84DDBC3-7915-453A-9721-5D7E1362EF3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/>
            <a:srcRect l="2291" t="1484" r="2291" b="2744"/>
            <a:stretch/>
          </p:blipFill>
          <p:spPr>
            <a:xfrm>
              <a:off x="1379" y="1674000"/>
              <a:ext cx="1597210" cy="1384249"/>
            </a:xfrm>
            <a:prstGeom prst="rect">
              <a:avLst/>
            </a:prstGeom>
          </p:spPr>
        </p:pic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CD88957F-9011-4DD3-804F-C8064FC2BFC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/>
            <a:srcRect l="2469" t="2332" r="2469" b="4979"/>
            <a:stretch/>
          </p:blipFill>
          <p:spPr>
            <a:xfrm>
              <a:off x="4081952" y="1679609"/>
              <a:ext cx="1581999" cy="1384249"/>
            </a:xfrm>
            <a:prstGeom prst="rect">
              <a:avLst/>
            </a:prstGeom>
          </p:spPr>
        </p:pic>
        <p:pic>
          <p:nvPicPr>
            <p:cNvPr id="33" name="Grafik 32" descr="Ein Bild, das Schrank enthält.&#10;&#10;Automatisch generierte Beschreibung">
              <a:extLst>
                <a:ext uri="{FF2B5EF4-FFF2-40B4-BE49-F238E27FC236}">
                  <a16:creationId xmlns:a16="http://schemas.microsoft.com/office/drawing/2014/main" id="{40E5B97F-B135-4CBE-B7FD-19C1979790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4401" y="1676618"/>
              <a:ext cx="1257549" cy="1381631"/>
            </a:xfrm>
            <a:prstGeom prst="rect">
              <a:avLst/>
            </a:prstGeom>
          </p:spPr>
        </p:pic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76AD956C-3F8B-4D2F-9EB6-3ACA924B76A7}"/>
              </a:ext>
            </a:extLst>
          </p:cNvPr>
          <p:cNvGrpSpPr/>
          <p:nvPr userDrawn="1"/>
        </p:nvGrpSpPr>
        <p:grpSpPr>
          <a:xfrm>
            <a:off x="-1" y="1988840"/>
            <a:ext cx="5663953" cy="1897071"/>
            <a:chOff x="-1" y="3063858"/>
            <a:chExt cx="5663953" cy="1897071"/>
          </a:xfrm>
        </p:grpSpPr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1613DFCC-B54F-47FA-88AC-803735AE6E53}"/>
                </a:ext>
              </a:extLst>
            </p:cNvPr>
            <p:cNvSpPr/>
            <p:nvPr userDrawn="1"/>
          </p:nvSpPr>
          <p:spPr>
            <a:xfrm>
              <a:off x="0" y="3063858"/>
              <a:ext cx="5663952" cy="540000"/>
            </a:xfrm>
            <a:prstGeom prst="rect">
              <a:avLst/>
            </a:prstGeom>
            <a:solidFill>
              <a:srgbClr val="5757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dynamic reactor operation</a:t>
              </a:r>
            </a:p>
          </p:txBody>
        </p:sp>
        <p:pic>
          <p:nvPicPr>
            <p:cNvPr id="35" name="Grafik 34">
              <a:extLst>
                <a:ext uri="{FF2B5EF4-FFF2-40B4-BE49-F238E27FC236}">
                  <a16:creationId xmlns:a16="http://schemas.microsoft.com/office/drawing/2014/main" id="{FBDDA22F-D654-4537-8713-E4FD596930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4322889" y="3610929"/>
              <a:ext cx="1341062" cy="1332000"/>
            </a:xfrm>
            <a:prstGeom prst="rect">
              <a:avLst/>
            </a:prstGeom>
          </p:spPr>
        </p:pic>
        <p:pic>
          <p:nvPicPr>
            <p:cNvPr id="54" name="Grafik 53">
              <a:extLst>
                <a:ext uri="{FF2B5EF4-FFF2-40B4-BE49-F238E27FC236}">
                  <a16:creationId xmlns:a16="http://schemas.microsoft.com/office/drawing/2014/main" id="{AFD360D7-B06A-4A7E-80C4-F91DCCC8077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/>
            <a:srcRect t="9371" b="6808"/>
            <a:stretch/>
          </p:blipFill>
          <p:spPr>
            <a:xfrm>
              <a:off x="1391894" y="3608223"/>
              <a:ext cx="1780388" cy="1319919"/>
            </a:xfrm>
            <a:prstGeom prst="rect">
              <a:avLst/>
            </a:prstGeom>
          </p:spPr>
        </p:pic>
        <p:pic>
          <p:nvPicPr>
            <p:cNvPr id="55" name="Grafik 54">
              <a:extLst>
                <a:ext uri="{FF2B5EF4-FFF2-40B4-BE49-F238E27FC236}">
                  <a16:creationId xmlns:a16="http://schemas.microsoft.com/office/drawing/2014/main" id="{EA539917-AF59-4973-8F95-0FA488F45F2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400" t="10502" r="6668" b="28620"/>
            <a:stretch/>
          </p:blipFill>
          <p:spPr>
            <a:xfrm>
              <a:off x="3323378" y="3592929"/>
              <a:ext cx="896586" cy="1368000"/>
            </a:xfrm>
            <a:prstGeom prst="rect">
              <a:avLst/>
            </a:prstGeom>
          </p:spPr>
        </p:pic>
        <p:pic>
          <p:nvPicPr>
            <p:cNvPr id="56" name="Grafik 55">
              <a:extLst>
                <a:ext uri="{FF2B5EF4-FFF2-40B4-BE49-F238E27FC236}">
                  <a16:creationId xmlns:a16="http://schemas.microsoft.com/office/drawing/2014/main" id="{7B073412-E121-4EB9-A73B-8AC753EB83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" y="3610929"/>
              <a:ext cx="1332000" cy="1332000"/>
            </a:xfrm>
            <a:prstGeom prst="rect">
              <a:avLst/>
            </a:prstGeom>
          </p:spPr>
        </p:pic>
        <p:pic>
          <p:nvPicPr>
            <p:cNvPr id="57" name="Grafik 56">
              <a:extLst>
                <a:ext uri="{FF2B5EF4-FFF2-40B4-BE49-F238E27FC236}">
                  <a16:creationId xmlns:a16="http://schemas.microsoft.com/office/drawing/2014/main" id="{3AB5D57D-DAB7-4ED2-AE96-BC2918DA35F5}"/>
                </a:ext>
              </a:extLst>
            </p:cNvPr>
            <p:cNvPicPr>
              <a:picLocks noChangeAspect="1"/>
            </p:cNvPicPr>
            <p:nvPr userDrawn="1">
              <p:custDataLst>
                <p:tags r:id="rId1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1689" y="3660441"/>
              <a:ext cx="2880000" cy="410992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</p:spPr>
        </p:pic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D2DACA63-E712-4A97-948C-A159116D5958}"/>
              </a:ext>
            </a:extLst>
          </p:cNvPr>
          <p:cNvSpPr/>
          <p:nvPr userDrawn="1"/>
        </p:nvSpPr>
        <p:spPr>
          <a:xfrm>
            <a:off x="0" y="5960907"/>
            <a:ext cx="12192001" cy="900000"/>
          </a:xfrm>
          <a:prstGeom prst="rect">
            <a:avLst/>
          </a:prstGeom>
          <a:solidFill>
            <a:srgbClr val="5757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Master Thesis  |  Institute of Chemical Engineering  |  Ulm University</a:t>
            </a:r>
          </a:p>
        </p:txBody>
      </p:sp>
    </p:spTree>
    <p:extLst>
      <p:ext uri="{BB962C8B-B14F-4D97-AF65-F5344CB8AC3E}">
        <p14:creationId xmlns:p14="http://schemas.microsoft.com/office/powerpoint/2010/main" val="94042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rgbClr val="DF6D07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DF6D07"/>
              </a:buClr>
              <a:defRPr/>
            </a:lvl1pPr>
            <a:lvl2pPr>
              <a:buClr>
                <a:srgbClr val="DF6D07"/>
              </a:buClr>
              <a:defRPr/>
            </a:lvl2pPr>
            <a:lvl3pPr>
              <a:buClr>
                <a:srgbClr val="DF6D07"/>
              </a:buClr>
              <a:defRPr/>
            </a:lvl3pPr>
            <a:lvl4pPr>
              <a:buClr>
                <a:srgbClr val="DF6D07"/>
              </a:buClr>
              <a:defRPr/>
            </a:lvl4pPr>
            <a:lvl5pPr>
              <a:buClr>
                <a:srgbClr val="DF6D07"/>
              </a:buCl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Line 20"/>
          <p:cNvSpPr>
            <a:spLocks noChangeShapeType="1"/>
          </p:cNvSpPr>
          <p:nvPr userDrawn="1"/>
        </p:nvSpPr>
        <p:spPr bwMode="auto">
          <a:xfrm>
            <a:off x="0" y="182563"/>
            <a:ext cx="11268000" cy="0"/>
          </a:xfrm>
          <a:prstGeom prst="line">
            <a:avLst/>
          </a:prstGeom>
          <a:noFill/>
          <a:ln w="9525">
            <a:solidFill>
              <a:srgbClr val="DF6D0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sz="1800"/>
          </a:p>
        </p:txBody>
      </p:sp>
      <p:sp>
        <p:nvSpPr>
          <p:cNvPr id="8" name="Rectangle 24"/>
          <p:cNvSpPr>
            <a:spLocks noChangeArrowheads="1"/>
          </p:cNvSpPr>
          <p:nvPr userDrawn="1"/>
        </p:nvSpPr>
        <p:spPr bwMode="auto">
          <a:xfrm>
            <a:off x="0" y="179389"/>
            <a:ext cx="958851" cy="179387"/>
          </a:xfrm>
          <a:prstGeom prst="rect">
            <a:avLst/>
          </a:prstGeom>
          <a:solidFill>
            <a:srgbClr val="DF6D07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de-DE" sz="1800">
              <a:solidFill>
                <a:srgbClr val="BD4505"/>
              </a:solidFill>
              <a:latin typeface="Times" charset="0"/>
            </a:endParaRPr>
          </a:p>
        </p:txBody>
      </p:sp>
      <p:sp>
        <p:nvSpPr>
          <p:cNvPr id="9" name="Text Box 23"/>
          <p:cNvSpPr txBox="1">
            <a:spLocks noChangeArrowheads="1"/>
          </p:cNvSpPr>
          <p:nvPr userDrawn="1"/>
        </p:nvSpPr>
        <p:spPr bwMode="auto">
          <a:xfrm>
            <a:off x="1127448" y="212727"/>
            <a:ext cx="804968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1000" noProof="0" dirty="0">
                <a:solidFill>
                  <a:srgbClr val="DF6D07"/>
                </a:solidFill>
              </a:rPr>
              <a:t>Master Thesis| Institute of Chemical Engineering</a:t>
            </a:r>
            <a:endParaRPr lang="en-US" sz="1000" b="1" noProof="0" dirty="0">
              <a:solidFill>
                <a:srgbClr val="DF6D07"/>
              </a:solidFill>
            </a:endParaRPr>
          </a:p>
        </p:txBody>
      </p:sp>
      <p:sp>
        <p:nvSpPr>
          <p:cNvPr id="10" name="Text Box 25"/>
          <p:cNvSpPr txBox="1">
            <a:spLocks noChangeArrowheads="1"/>
          </p:cNvSpPr>
          <p:nvPr userDrawn="1"/>
        </p:nvSpPr>
        <p:spPr bwMode="auto">
          <a:xfrm>
            <a:off x="239184" y="192088"/>
            <a:ext cx="753533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de-DE" sz="1000" dirty="0">
                <a:solidFill>
                  <a:schemeClr val="bg1"/>
                </a:solidFill>
              </a:rPr>
              <a:t>Slide </a:t>
            </a:r>
            <a:fld id="{72B15E79-9594-554D-993D-A2428A8EC461}" type="slidenum">
              <a:rPr lang="de-DE" sz="1000">
                <a:solidFill>
                  <a:schemeClr val="bg1"/>
                </a:solidFill>
              </a:rPr>
              <a:pPr>
                <a:spcBef>
                  <a:spcPct val="50000"/>
                </a:spcBef>
              </a:pPr>
              <a:t>‹#›</a:t>
            </a:fld>
            <a:endParaRPr lang="de-DE" sz="1000" dirty="0">
              <a:solidFill>
                <a:schemeClr val="bg1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7B78706-6FB0-41BA-A68C-672E2B168A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000" y="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3253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2716669"/>
            <a:ext cx="12192000" cy="1440160"/>
          </a:xfrm>
        </p:spPr>
        <p:txBody>
          <a:bodyPr anchor="ctr"/>
          <a:lstStyle>
            <a:lvl1pPr algn="ctr">
              <a:defRPr sz="2800">
                <a:solidFill>
                  <a:srgbClr val="DF6D07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Line 20"/>
          <p:cNvSpPr>
            <a:spLocks noChangeShapeType="1"/>
          </p:cNvSpPr>
          <p:nvPr userDrawn="1"/>
        </p:nvSpPr>
        <p:spPr bwMode="auto">
          <a:xfrm>
            <a:off x="0" y="182563"/>
            <a:ext cx="11268000" cy="0"/>
          </a:xfrm>
          <a:prstGeom prst="line">
            <a:avLst/>
          </a:prstGeom>
          <a:noFill/>
          <a:ln w="9525">
            <a:solidFill>
              <a:srgbClr val="DF6D0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sz="1800"/>
          </a:p>
        </p:txBody>
      </p:sp>
      <p:sp>
        <p:nvSpPr>
          <p:cNvPr id="8" name="Rectangle 24"/>
          <p:cNvSpPr>
            <a:spLocks noChangeArrowheads="1"/>
          </p:cNvSpPr>
          <p:nvPr userDrawn="1"/>
        </p:nvSpPr>
        <p:spPr bwMode="auto">
          <a:xfrm>
            <a:off x="0" y="179389"/>
            <a:ext cx="958851" cy="179387"/>
          </a:xfrm>
          <a:prstGeom prst="rect">
            <a:avLst/>
          </a:prstGeom>
          <a:solidFill>
            <a:srgbClr val="DF6D07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de-DE" sz="1800">
              <a:solidFill>
                <a:srgbClr val="BD4505"/>
              </a:solidFill>
              <a:latin typeface="Times" charset="0"/>
            </a:endParaRPr>
          </a:p>
        </p:txBody>
      </p:sp>
      <p:sp>
        <p:nvSpPr>
          <p:cNvPr id="9" name="Text Box 23"/>
          <p:cNvSpPr txBox="1">
            <a:spLocks noChangeArrowheads="1"/>
          </p:cNvSpPr>
          <p:nvPr userDrawn="1"/>
        </p:nvSpPr>
        <p:spPr bwMode="auto">
          <a:xfrm>
            <a:off x="1195917" y="198438"/>
            <a:ext cx="804968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1000" noProof="0" dirty="0">
                <a:solidFill>
                  <a:srgbClr val="DF6D07"/>
                </a:solidFill>
              </a:rPr>
              <a:t>Research Internship | Institute of Chemical Engineering</a:t>
            </a:r>
            <a:endParaRPr lang="en-US" sz="1000" b="1" noProof="0" dirty="0">
              <a:solidFill>
                <a:srgbClr val="DF6D07"/>
              </a:solidFill>
            </a:endParaRPr>
          </a:p>
        </p:txBody>
      </p:sp>
      <p:sp>
        <p:nvSpPr>
          <p:cNvPr id="10" name="Text Box 25"/>
          <p:cNvSpPr txBox="1">
            <a:spLocks noChangeArrowheads="1"/>
          </p:cNvSpPr>
          <p:nvPr userDrawn="1"/>
        </p:nvSpPr>
        <p:spPr bwMode="auto">
          <a:xfrm>
            <a:off x="239184" y="192088"/>
            <a:ext cx="753533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de-DE" sz="1000" dirty="0">
                <a:solidFill>
                  <a:schemeClr val="bg1"/>
                </a:solidFill>
              </a:rPr>
              <a:t>Slide </a:t>
            </a:r>
            <a:fld id="{72B15E79-9594-554D-993D-A2428A8EC461}" type="slidenum">
              <a:rPr lang="de-DE" sz="1000">
                <a:solidFill>
                  <a:schemeClr val="bg1"/>
                </a:solidFill>
              </a:rPr>
              <a:pPr>
                <a:spcBef>
                  <a:spcPct val="50000"/>
                </a:spcBef>
              </a:pPr>
              <a:t>‹#›</a:t>
            </a:fld>
            <a:endParaRPr lang="de-DE" sz="1000" dirty="0">
              <a:solidFill>
                <a:schemeClr val="bg1"/>
              </a:solidFill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0C7FA73-13A2-46CB-B457-48AF3A5E01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000" y="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4497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23392" y="476672"/>
            <a:ext cx="11568608" cy="57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fontAlgn="base">
              <a:spcAft>
                <a:spcPct val="0"/>
              </a:spcAft>
            </a:pPr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3392" y="1052672"/>
            <a:ext cx="11568608" cy="5398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623390" y="6492876"/>
            <a:ext cx="115686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4033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lang="de-DE" sz="2400" b="0" kern="1200" dirty="0" smtClean="0">
          <a:solidFill>
            <a:srgbClr val="DF6D07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</p:titleStyle>
    <p:bodyStyle>
      <a:lvl1pPr marL="268288" indent="-268288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36575" indent="-268288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663952" y="1484784"/>
            <a:ext cx="6528048" cy="3332800"/>
          </a:xfrm>
        </p:spPr>
        <p:txBody>
          <a:bodyPr/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Deconvolution of RTD for compartment models via CNNs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663952" y="4293096"/>
            <a:ext cx="6528048" cy="16200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Tuana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Oyuncu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08/10/2024</a:t>
            </a:r>
          </a:p>
        </p:txBody>
      </p:sp>
    </p:spTree>
    <p:extLst>
      <p:ext uri="{BB962C8B-B14F-4D97-AF65-F5344CB8AC3E}">
        <p14:creationId xmlns:p14="http://schemas.microsoft.com/office/powerpoint/2010/main" val="2346681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3E625-BAD0-E2D9-7FFC-C67FD4CC7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The Convection Model For Laminar Flow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C2343E-C3B7-E681-9B13-263C5F0BE97F}"/>
              </a:ext>
            </a:extLst>
          </p:cNvPr>
          <p:cNvSpPr txBox="1"/>
          <p:nvPr/>
        </p:nvSpPr>
        <p:spPr>
          <a:xfrm>
            <a:off x="180193" y="954718"/>
            <a:ext cx="886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Tau= 5s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08E983-0C18-CC32-75C9-93F0E9B50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778" y="1609594"/>
            <a:ext cx="2808312" cy="17883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9056087-802C-0BB3-2233-D4160715D3A8}"/>
              </a:ext>
            </a:extLst>
          </p:cNvPr>
          <p:cNvSpPr txBox="1"/>
          <p:nvPr/>
        </p:nvSpPr>
        <p:spPr>
          <a:xfrm>
            <a:off x="3988351" y="957014"/>
            <a:ext cx="1087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  <a:r>
              <a:rPr lang="en-TR" dirty="0"/>
              <a:t>isc= 400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8070D2-1F12-04F9-1AA1-3DAFF292E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2130" y="1609594"/>
            <a:ext cx="2808312" cy="18296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4ED6EF-90F0-C959-12B1-9C6FA95D1D33}"/>
              </a:ext>
            </a:extLst>
          </p:cNvPr>
          <p:cNvSpPr txBox="1"/>
          <p:nvPr/>
        </p:nvSpPr>
        <p:spPr>
          <a:xfrm>
            <a:off x="7117179" y="958343"/>
            <a:ext cx="1087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  <a:r>
              <a:rPr lang="en-TR" dirty="0"/>
              <a:t>isc= 300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38CF3C-8136-69D7-2FD2-330B4ABEB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3218" y="1609594"/>
            <a:ext cx="2933261" cy="18296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BCA9D1-85FE-B9F3-6558-19D3D47BE14B}"/>
              </a:ext>
            </a:extLst>
          </p:cNvPr>
          <p:cNvSpPr txBox="1"/>
          <p:nvPr/>
        </p:nvSpPr>
        <p:spPr>
          <a:xfrm>
            <a:off x="9996269" y="959887"/>
            <a:ext cx="1087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  <a:r>
              <a:rPr lang="en-TR" dirty="0"/>
              <a:t>isc= 200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5FFA8C-00DD-F81B-AA29-BF4583546A1E}"/>
              </a:ext>
            </a:extLst>
          </p:cNvPr>
          <p:cNvSpPr txBox="1"/>
          <p:nvPr/>
        </p:nvSpPr>
        <p:spPr>
          <a:xfrm>
            <a:off x="1333589" y="954718"/>
            <a:ext cx="1087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  <a:r>
              <a:rPr lang="en-TR" dirty="0"/>
              <a:t>isc= 500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F61237-08C8-0E51-DBA8-E21CB236AF5C}"/>
              </a:ext>
            </a:extLst>
          </p:cNvPr>
          <p:cNvSpPr txBox="1"/>
          <p:nvPr/>
        </p:nvSpPr>
        <p:spPr>
          <a:xfrm>
            <a:off x="779672" y="3760708"/>
            <a:ext cx="1087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  <a:r>
              <a:rPr lang="en-TR" dirty="0"/>
              <a:t>isc= 100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2AB654-3798-CFA8-215F-31FB0F18B3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3" y="4352898"/>
            <a:ext cx="2808312" cy="17910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819EAA7-F4DB-1D2B-DD08-C9CB5D2EDB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86" y="1641811"/>
            <a:ext cx="2783052" cy="177885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88DECE4-3B3B-A378-1170-497F1124ED1E}"/>
              </a:ext>
            </a:extLst>
          </p:cNvPr>
          <p:cNvSpPr txBox="1"/>
          <p:nvPr/>
        </p:nvSpPr>
        <p:spPr>
          <a:xfrm>
            <a:off x="7127968" y="3296763"/>
            <a:ext cx="1158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Expected: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16DB4A-34D1-1428-2C86-274FCCD0C7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2359" y="3439252"/>
            <a:ext cx="2825402" cy="324857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411B5F4-6074-270F-59EB-EAE5C6B7DC9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3658" y="4362418"/>
            <a:ext cx="3431704" cy="163785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B1C3DEB-2971-605C-4F28-8AF24E638F57}"/>
              </a:ext>
            </a:extLst>
          </p:cNvPr>
          <p:cNvSpPr txBox="1"/>
          <p:nvPr/>
        </p:nvSpPr>
        <p:spPr>
          <a:xfrm>
            <a:off x="2999838" y="492111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>
                <a:solidFill>
                  <a:srgbClr val="FF0000"/>
                </a:solidFill>
              </a:rPr>
              <a:t>*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624BF604-50EF-6024-EFA2-13BC0D5864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9660" y="3645736"/>
            <a:ext cx="2438400" cy="16002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ECD2037E-DE71-B2EE-B0A8-838D45812EFD}"/>
              </a:ext>
            </a:extLst>
          </p:cNvPr>
          <p:cNvSpPr txBox="1"/>
          <p:nvPr/>
        </p:nvSpPr>
        <p:spPr>
          <a:xfrm>
            <a:off x="5622593" y="4049891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  <a:r>
              <a:rPr lang="en-TR" dirty="0"/>
              <a:t>isc=500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A1A9C9-8A54-F027-F85B-12EF313F9575}"/>
              </a:ext>
            </a:extLst>
          </p:cNvPr>
          <p:cNvSpPr txBox="1"/>
          <p:nvPr/>
        </p:nvSpPr>
        <p:spPr>
          <a:xfrm>
            <a:off x="5487162" y="6210382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  <a:r>
              <a:rPr lang="en-TR" dirty="0"/>
              <a:t>isc=200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2E729A0C-C13A-8029-9E5B-BD44419CE36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9660" y="5236346"/>
            <a:ext cx="2438400" cy="16002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3A7344A-887E-5AA9-A254-E2B27F47086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63432" y="3407492"/>
            <a:ext cx="24257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63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F9EAE-5868-689D-5160-595E67310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Dispersion Model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D11EE71-C4C0-EB7E-83AE-FFE3EC31B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814" y="316941"/>
            <a:ext cx="4318000" cy="939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80C72C-69BF-F21E-65D7-863076C7B6A0}"/>
              </a:ext>
            </a:extLst>
          </p:cNvPr>
          <p:cNvSpPr txBox="1"/>
          <p:nvPr/>
        </p:nvSpPr>
        <p:spPr>
          <a:xfrm>
            <a:off x="694944" y="1353312"/>
            <a:ext cx="1309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Bo=1,n=200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410A72-A17A-776F-15A2-38BE9820AFF5}"/>
              </a:ext>
            </a:extLst>
          </p:cNvPr>
          <p:cNvSpPr txBox="1"/>
          <p:nvPr/>
        </p:nvSpPr>
        <p:spPr>
          <a:xfrm>
            <a:off x="4655840" y="1353312"/>
            <a:ext cx="1309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Bo=1,n=300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76062C8-735D-4CFE-1A13-53FB7BB60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082" y="1416472"/>
            <a:ext cx="4143913" cy="5002740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ACDD8020-EC86-F29F-D25A-0FB1A7EF78A3}"/>
              </a:ext>
            </a:extLst>
          </p:cNvPr>
          <p:cNvGrpSpPr/>
          <p:nvPr/>
        </p:nvGrpSpPr>
        <p:grpSpPr>
          <a:xfrm>
            <a:off x="8621784" y="-123976"/>
            <a:ext cx="2840528" cy="2662409"/>
            <a:chOff x="6659288" y="-117500"/>
            <a:chExt cx="2840528" cy="2662409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FA3FF80-D178-F043-4696-F46F5D83A4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59288" y="-117500"/>
              <a:ext cx="2840528" cy="2662409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379B619-F149-DB5C-1826-75C1D9C6FD78}"/>
                </a:ext>
              </a:extLst>
            </p:cNvPr>
            <p:cNvSpPr txBox="1"/>
            <p:nvPr/>
          </p:nvSpPr>
          <p:spPr>
            <a:xfrm>
              <a:off x="7755335" y="665294"/>
              <a:ext cx="8258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n</a:t>
              </a:r>
              <a:r>
                <a:rPr lang="en-TR" dirty="0"/>
                <a:t>=300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3531FA7-B4E8-7F3E-B720-92C881C878AD}"/>
                </a:ext>
              </a:extLst>
            </p:cNvPr>
            <p:cNvSpPr txBox="1"/>
            <p:nvPr/>
          </p:nvSpPr>
          <p:spPr>
            <a:xfrm>
              <a:off x="7782976" y="1602589"/>
              <a:ext cx="8258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n</a:t>
              </a:r>
              <a:r>
                <a:rPr lang="en-TR" dirty="0"/>
                <a:t>=200</a:t>
              </a:r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D7A9E4D9-4507-2A36-0839-FED753B261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87" y="1789051"/>
            <a:ext cx="3643861" cy="229276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5DC7ED7-AABB-5DDC-448D-986019A155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069" y="1789051"/>
            <a:ext cx="3643861" cy="236646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A77C1E5-DC29-3C94-585C-7B05A9E209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46" y="4351828"/>
            <a:ext cx="3550602" cy="229276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5C63E94-D0AD-9CC6-48AA-2AB8B3101F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8338" y="4351827"/>
            <a:ext cx="3694952" cy="2292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548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DD0CF-89AF-E2EE-7F63-E0E32085E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Dispersion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489CFD-8777-3C9C-F09C-E44A0FBAC2AB}"/>
              </a:ext>
            </a:extLst>
          </p:cNvPr>
          <p:cNvSpPr txBox="1"/>
          <p:nvPr/>
        </p:nvSpPr>
        <p:spPr>
          <a:xfrm>
            <a:off x="576943" y="1338943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Bo=10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12D308-AE77-F052-4D10-E6A0A6C84961}"/>
              </a:ext>
            </a:extLst>
          </p:cNvPr>
          <p:cNvSpPr txBox="1"/>
          <p:nvPr/>
        </p:nvSpPr>
        <p:spPr>
          <a:xfrm>
            <a:off x="576942" y="3244334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Bo=3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BA4645-6A6F-3AA8-5FF6-B5B7B2A3B5EC}"/>
              </a:ext>
            </a:extLst>
          </p:cNvPr>
          <p:cNvSpPr txBox="1"/>
          <p:nvPr/>
        </p:nvSpPr>
        <p:spPr>
          <a:xfrm>
            <a:off x="627110" y="5181991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Bo=1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2F9594-B1DC-6DAD-3364-BCBD7D868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072" y="2607422"/>
            <a:ext cx="2978382" cy="20395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5B294F-42F5-5537-658D-4B64A8B59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496" y="1309103"/>
            <a:ext cx="2938870" cy="20395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8B6552-1896-ACA3-391A-57AB05DE6C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3380" y="4388240"/>
            <a:ext cx="3149055" cy="203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620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937A5-1155-082B-D4B7-337E42372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Adler and Hovorka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F54747-89E5-17B2-2E12-45929424E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925277"/>
            <a:ext cx="3949204" cy="21556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1D8950-89BA-8CB1-C7C4-D6FDEBF4FD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896" y="332023"/>
            <a:ext cx="4338704" cy="16621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0D5123-6FBD-6331-7E91-2BF0761482B9}"/>
              </a:ext>
            </a:extLst>
          </p:cNvPr>
          <p:cNvSpPr txBox="1"/>
          <p:nvPr/>
        </p:nvSpPr>
        <p:spPr>
          <a:xfrm>
            <a:off x="36092" y="2896290"/>
            <a:ext cx="3777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tau_a_val_3_tau_p_val_2, </a:t>
            </a:r>
            <a:r>
              <a:rPr lang="en-US" dirty="0" err="1"/>
              <a:t>n_disc</a:t>
            </a:r>
            <a:r>
              <a:rPr lang="en-US" dirty="0"/>
              <a:t>=200</a:t>
            </a:r>
            <a:endParaRPr lang="en-T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5AD3F9-C0B8-1480-80D6-2B094818D879}"/>
              </a:ext>
            </a:extLst>
          </p:cNvPr>
          <p:cNvSpPr txBox="1"/>
          <p:nvPr/>
        </p:nvSpPr>
        <p:spPr>
          <a:xfrm>
            <a:off x="7388503" y="1197321"/>
            <a:ext cx="4220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tau_m_val</a:t>
            </a:r>
            <a:r>
              <a:rPr lang="en-US" dirty="0"/>
              <a:t> = (</a:t>
            </a:r>
            <a:r>
              <a:rPr lang="en-US" dirty="0" err="1"/>
              <a:t>beta_val</a:t>
            </a:r>
            <a:r>
              <a:rPr lang="en-US" dirty="0"/>
              <a:t> * (1 - alpha)) / alpha</a:t>
            </a:r>
            <a:endParaRPr lang="en-T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EE7D25-E421-40FA-D692-15B39CCC1619}"/>
              </a:ext>
            </a:extLst>
          </p:cNvPr>
          <p:cNvSpPr txBox="1"/>
          <p:nvPr/>
        </p:nvSpPr>
        <p:spPr>
          <a:xfrm>
            <a:off x="4400773" y="2856252"/>
            <a:ext cx="6105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R" dirty="0"/>
              <a:t>tau_a_val_3_tau_p_val_2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D810B6E-D55C-278B-9DFD-EF6F16614183}"/>
              </a:ext>
            </a:extLst>
          </p:cNvPr>
          <p:cNvGrpSpPr/>
          <p:nvPr/>
        </p:nvGrpSpPr>
        <p:grpSpPr>
          <a:xfrm>
            <a:off x="2650073" y="4974290"/>
            <a:ext cx="5687357" cy="1947550"/>
            <a:chOff x="1749638" y="5079242"/>
            <a:chExt cx="5687357" cy="1947550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EABDFC3-45DA-94DA-2F4D-5BAF7FEB0D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9638" y="5079242"/>
              <a:ext cx="4658058" cy="194755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73EF087-6DE4-E5DF-6BF5-8D09D9A4A4E7}"/>
                </a:ext>
              </a:extLst>
            </p:cNvPr>
            <p:cNvSpPr txBox="1"/>
            <p:nvPr/>
          </p:nvSpPr>
          <p:spPr>
            <a:xfrm>
              <a:off x="2318619" y="5388157"/>
              <a:ext cx="39332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tau_a_val_1_tau_p_val_2, </a:t>
              </a:r>
              <a:r>
                <a:rPr lang="en-US" dirty="0" err="1"/>
                <a:t>n_disc</a:t>
              </a:r>
              <a:r>
                <a:rPr lang="en-US" dirty="0"/>
                <a:t>=200</a:t>
              </a:r>
              <a:endParaRPr lang="en-TR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192EFD5-5B0D-0B77-282A-B20B8B253A3D}"/>
                </a:ext>
              </a:extLst>
            </p:cNvPr>
            <p:cNvSpPr txBox="1"/>
            <p:nvPr/>
          </p:nvSpPr>
          <p:spPr>
            <a:xfrm>
              <a:off x="3503713" y="6231453"/>
              <a:ext cx="39332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TR" dirty="0"/>
                <a:t>tau_a_val_1_tau_p_val_2 </a:t>
              </a: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D62C86E3-BB01-B5CD-5669-ECF473BF35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82" y="1978685"/>
            <a:ext cx="3344317" cy="396938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283DF22-427F-D70C-BCD5-F8501B29EC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17" y="3265622"/>
            <a:ext cx="2595949" cy="174658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640C931-E8BC-2E52-EC1F-D5F2005C27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420" y="3193191"/>
            <a:ext cx="2595950" cy="175500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34BD97C-8711-C910-A813-945A01E207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259" y="3275321"/>
            <a:ext cx="2595950" cy="171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993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288A1-538C-57D0-03F7-40155BB6C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Adler and Hovorka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D09324-4FC4-382A-9DCC-E9BA07141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76" y="1196752"/>
            <a:ext cx="3600400" cy="235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486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3CA16-77D6-8234-F97F-6EC09049F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Cholete and Clautier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507E6E-179E-668F-4681-5BCB7202A9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530" t="10050" r="16618"/>
          <a:stretch/>
        </p:blipFill>
        <p:spPr>
          <a:xfrm>
            <a:off x="4767188" y="447153"/>
            <a:ext cx="2448272" cy="21210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93DC771-2B90-C106-B937-FA2D803AC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460" y="447153"/>
            <a:ext cx="3898900" cy="4521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8642C7E-FEAB-8D15-90FD-E7F753496B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4" y="1077649"/>
            <a:ext cx="4464496" cy="29562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7674E3D-2D5B-8CDE-67F3-D3EBDF15D8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11" y="4020816"/>
            <a:ext cx="4154362" cy="270648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4F1D790-4441-211D-8DBD-1C5C7EEE07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250" y="4541808"/>
            <a:ext cx="2906514" cy="186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167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E6D8C-63AB-D0DF-9AB4-FAE2658A3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Plug Flow with Recycle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DF0B22-BD71-4B82-BFC9-33504D9BC9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389" b="11965"/>
          <a:stretch/>
        </p:blipFill>
        <p:spPr>
          <a:xfrm>
            <a:off x="368300" y="1066408"/>
            <a:ext cx="3307582" cy="8580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91C23D-75E1-CBDD-6C23-104419A3AC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470" b="17846"/>
          <a:stretch/>
        </p:blipFill>
        <p:spPr>
          <a:xfrm>
            <a:off x="368300" y="2060848"/>
            <a:ext cx="3589132" cy="6464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54B1F3-059B-5394-DE8C-8B12018EA36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665"/>
          <a:stretch/>
        </p:blipFill>
        <p:spPr>
          <a:xfrm>
            <a:off x="4129671" y="283874"/>
            <a:ext cx="7772400" cy="27409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3AC146E-1E6E-E605-4F2F-F2FE7BF77A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64" y="2900808"/>
            <a:ext cx="4322899" cy="388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945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1042F-838D-C6AD-117C-AB2A81640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Tank in series with recycle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93A331-7521-93A3-93A0-948D2BCB8B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223" r="9236" b="9613"/>
          <a:stretch/>
        </p:blipFill>
        <p:spPr>
          <a:xfrm>
            <a:off x="4943872" y="970057"/>
            <a:ext cx="4913156" cy="972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052B86-3A99-C201-61A4-DCA0BB7F5F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721" r="5704"/>
          <a:stretch/>
        </p:blipFill>
        <p:spPr>
          <a:xfrm>
            <a:off x="623392" y="980728"/>
            <a:ext cx="3700666" cy="20693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959490-83DB-A3E5-6C71-C694270C7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4764" y="1998417"/>
            <a:ext cx="1675377" cy="10166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D0A4ED-7C4F-8E7A-A6D3-829679E2FA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03" y="3284984"/>
            <a:ext cx="5087888" cy="8037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EAD7F3-A255-49A4-F739-A7602C9EDF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1215" y="3284984"/>
            <a:ext cx="5317852" cy="70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349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CE16F-4F12-8752-8300-0DB6F74BD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The unified time delay model</a:t>
            </a:r>
            <a:br>
              <a:rPr lang="en-TR" dirty="0"/>
            </a:br>
            <a:endParaRPr lang="en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7A6049-E2B6-0998-8301-587D2D3361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7"/>
          <a:stretch/>
        </p:blipFill>
        <p:spPr>
          <a:xfrm>
            <a:off x="623392" y="910916"/>
            <a:ext cx="3689383" cy="12248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683F28-ABD9-B339-C503-D626F40A4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775" y="812759"/>
            <a:ext cx="4008222" cy="9128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958EE3-898E-90B4-5996-F08B35335934}"/>
              </a:ext>
            </a:extLst>
          </p:cNvPr>
          <p:cNvSpPr txBox="1"/>
          <p:nvPr/>
        </p:nvSpPr>
        <p:spPr>
          <a:xfrm>
            <a:off x="8555243" y="1086319"/>
            <a:ext cx="2596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Inverse L</a:t>
            </a:r>
            <a:r>
              <a:rPr lang="en-US" dirty="0"/>
              <a:t>a</a:t>
            </a:r>
            <a:r>
              <a:rPr lang="en-TR" dirty="0"/>
              <a:t>place transform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6E3668-0102-CD3E-DF27-C4B6956B85AA}"/>
              </a:ext>
            </a:extLst>
          </p:cNvPr>
          <p:cNvSpPr/>
          <p:nvPr/>
        </p:nvSpPr>
        <p:spPr>
          <a:xfrm>
            <a:off x="8377191" y="963619"/>
            <a:ext cx="2952328" cy="64807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DC09D5-4F30-5AEC-1CBB-A6132C3A894D}"/>
              </a:ext>
            </a:extLst>
          </p:cNvPr>
          <p:cNvSpPr txBox="1"/>
          <p:nvPr/>
        </p:nvSpPr>
        <p:spPr>
          <a:xfrm>
            <a:off x="4544410" y="2378461"/>
            <a:ext cx="1082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J=2,tau=1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F5E2D2-C67E-5678-2D38-E5635843AF7F}"/>
              </a:ext>
            </a:extLst>
          </p:cNvPr>
          <p:cNvSpPr txBox="1"/>
          <p:nvPr/>
        </p:nvSpPr>
        <p:spPr>
          <a:xfrm>
            <a:off x="4532938" y="4595461"/>
            <a:ext cx="1082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J=5,tau=1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8EEADE-80EC-796E-5802-298DA8A05092}"/>
              </a:ext>
            </a:extLst>
          </p:cNvPr>
          <p:cNvSpPr txBox="1"/>
          <p:nvPr/>
        </p:nvSpPr>
        <p:spPr>
          <a:xfrm>
            <a:off x="1020710" y="4582189"/>
            <a:ext cx="1082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J=5,tau=3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043AE6-D03B-D612-4E2A-114A535FDF5A}"/>
              </a:ext>
            </a:extLst>
          </p:cNvPr>
          <p:cNvSpPr txBox="1"/>
          <p:nvPr/>
        </p:nvSpPr>
        <p:spPr>
          <a:xfrm>
            <a:off x="479376" y="2378461"/>
            <a:ext cx="1082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J=2,tau=3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4AE688-7276-D4C7-7FBE-FD140186E5A5}"/>
              </a:ext>
            </a:extLst>
          </p:cNvPr>
          <p:cNvSpPr txBox="1"/>
          <p:nvPr/>
        </p:nvSpPr>
        <p:spPr>
          <a:xfrm>
            <a:off x="5173784" y="1766472"/>
            <a:ext cx="2286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alpha=0.2, n_disc=300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D69BD8-F0F2-DFEC-222C-DD71E0E8C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2099" y="2571027"/>
            <a:ext cx="3421398" cy="414832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38E0753-1A4B-7B76-39E2-A32366A10C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49" y="2744550"/>
            <a:ext cx="3035901" cy="193052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057D9B0-33A2-7183-D211-F8DD8EAC86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3756" y="2773416"/>
            <a:ext cx="2873129" cy="193558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9D5D9FB-A6B2-05FA-55D4-31325BEA8E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940" y="4854931"/>
            <a:ext cx="3035901" cy="200306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594E411-9D38-0CE6-AEF0-4FB58661B3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7052" y="4947740"/>
            <a:ext cx="2873128" cy="186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2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>
          <a:xfrm>
            <a:off x="5663952" y="1268760"/>
            <a:ext cx="6528048" cy="3332800"/>
          </a:xfrm>
        </p:spPr>
        <p:txBody>
          <a:bodyPr/>
          <a:lstStyle/>
          <a:p>
            <a:br>
              <a:rPr lang="en-US" sz="1800" dirty="0">
                <a:effectLst/>
                <a:latin typeface="TimesNewRomanPSMT"/>
              </a:rPr>
            </a:br>
            <a:br>
              <a:rPr lang="en-US" sz="1800" dirty="0">
                <a:effectLst/>
                <a:latin typeface="TimesNewRomanPSMT"/>
              </a:rPr>
            </a:br>
            <a:r>
              <a:rPr lang="en-US" b="1" dirty="0">
                <a:effectLst/>
                <a:latin typeface="TimesNewRomanPSMT"/>
              </a:rPr>
              <a:t>THANK YOU!</a:t>
            </a:r>
            <a:br>
              <a:rPr lang="en-US" sz="1800" dirty="0">
                <a:effectLst/>
                <a:latin typeface="TimesNewRomanPSMT"/>
              </a:rPr>
            </a:br>
            <a:br>
              <a:rPr lang="en-US" sz="1800" dirty="0">
                <a:effectLst/>
                <a:latin typeface="TimesNewRomanPSMT"/>
              </a:rPr>
            </a:br>
            <a:r>
              <a:rPr lang="en-US" sz="1800" dirty="0">
                <a:effectLst/>
                <a:latin typeface="TimesNewRomanPSMT"/>
              </a:rPr>
              <a:t>I would like to thank Prof. Dr.-Ing. Robert </a:t>
            </a:r>
            <a:r>
              <a:rPr lang="en-US" sz="1800" dirty="0" err="1">
                <a:effectLst/>
                <a:latin typeface="TimesNewRomanPSMT"/>
              </a:rPr>
              <a:t>Güttel</a:t>
            </a:r>
            <a:r>
              <a:rPr lang="en-US" sz="1800" dirty="0">
                <a:effectLst/>
                <a:latin typeface="TimesNewRomanPSMT"/>
              </a:rPr>
              <a:t>, M.Sc. Hannes </a:t>
            </a:r>
            <a:r>
              <a:rPr lang="en-US" sz="1800" dirty="0" err="1">
                <a:effectLst/>
                <a:latin typeface="TimesNewRomanPSMT"/>
              </a:rPr>
              <a:t>Stagge</a:t>
            </a:r>
            <a:r>
              <a:rPr lang="en-US" sz="1800" dirty="0">
                <a:effectLst/>
                <a:latin typeface="TimesNewRomanPSMT"/>
              </a:rPr>
              <a:t> and M.Sc. Max </a:t>
            </a:r>
            <a:r>
              <a:rPr lang="en-US" sz="1800" dirty="0" err="1">
                <a:effectLst/>
                <a:latin typeface="TimesNewRomanPSMT"/>
              </a:rPr>
              <a:t>Gäßler</a:t>
            </a:r>
            <a:r>
              <a:rPr lang="en-US" sz="1800" dirty="0">
                <a:effectLst/>
                <a:latin typeface="TimesNewRomanPSMT"/>
              </a:rPr>
              <a:t> for their guidance and support.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971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F1167-CD00-BD64-3F17-529676701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Ganttchart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9A45B3-FFC9-7CD9-0515-012ADB59D4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44" y="2317965"/>
            <a:ext cx="11568112" cy="2222069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6B32E3-882F-8183-E04D-B8D488B9CE54}"/>
              </a:ext>
            </a:extLst>
          </p:cNvPr>
          <p:cNvSpPr txBox="1"/>
          <p:nvPr/>
        </p:nvSpPr>
        <p:spPr>
          <a:xfrm>
            <a:off x="2711624" y="3093196"/>
            <a:ext cx="1439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r>
              <a:rPr lang="en-TR" dirty="0"/>
              <a:t>dding layers</a:t>
            </a:r>
          </a:p>
        </p:txBody>
      </p:sp>
    </p:spTree>
    <p:extLst>
      <p:ext uri="{BB962C8B-B14F-4D97-AF65-F5344CB8AC3E}">
        <p14:creationId xmlns:p14="http://schemas.microsoft.com/office/powerpoint/2010/main" val="10161628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6,4179"/>
  <p:tag name="ORIGINALWIDTH" val="1453,926"/>
  <p:tag name="LATEXADDIN" val="\documentclass{article}&#10;\usepackage{amsmath}&#10;\pagestyle{empty}&#10;\begin{document}&#10;&#10;$&#10;\frac{\partial c_\mathrm{i}}{\partial t} = &#10;- \frac{\partial}{\partial z}u\,c_\mathrm{i}&#10;+ D_\mathrm{ax}\frac{\partial^2 c_\mathrm{i}}{\partial z^2}&#10;+ \sum\limits_\mathrm{j}\nu_\mathrm{ij}r_\mathrm{j}&#10;$&#10;&#10;&#10;\end{document}"/>
  <p:tag name="IGUANATEXSIZE" val="20"/>
  <p:tag name="IGUANATEXCURSOR" val="234"/>
</p:tagLst>
</file>

<file path=ppt/theme/theme1.xml><?xml version="1.0" encoding="utf-8"?>
<a:theme xmlns:a="http://schemas.openxmlformats.org/drawingml/2006/main" name="Larissa">
  <a:themeElements>
    <a:clrScheme name="Benutzerdefiniert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7D9AAA"/>
      </a:accent1>
      <a:accent2>
        <a:srgbClr val="A9A28D"/>
      </a:accent2>
      <a:accent3>
        <a:srgbClr val="DF6D07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E7293D8D-23E4-4682-94BD-B51C6C1AE10E}" vid="{F659027A-40BB-468E-82F1-3B1DF99A9B58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Larissa</Template>
  <TotalTime>117686</TotalTime>
  <Words>290</Words>
  <Application>Microsoft Macintosh PowerPoint</Application>
  <PresentationFormat>Widescreen</PresentationFormat>
  <Paragraphs>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Symbol</vt:lpstr>
      <vt:lpstr>Times</vt:lpstr>
      <vt:lpstr>TimesNewRomanPSMT</vt:lpstr>
      <vt:lpstr>Larissa</vt:lpstr>
      <vt:lpstr>Deconvolution of RTD for compartment models via CNNs</vt:lpstr>
      <vt:lpstr>The Convection Model For Laminar Flow</vt:lpstr>
      <vt:lpstr>Dispersion Model</vt:lpstr>
      <vt:lpstr>Dispersion Model</vt:lpstr>
      <vt:lpstr>Adler and Hovorka</vt:lpstr>
      <vt:lpstr>Adler and Hovorka</vt:lpstr>
      <vt:lpstr>Cholete and Clautier</vt:lpstr>
      <vt:lpstr>Plug Flow with Recycle</vt:lpstr>
      <vt:lpstr>Tank in series with recycle</vt:lpstr>
      <vt:lpstr>The unified time delay model </vt:lpstr>
      <vt:lpstr>  THANK YOU!  I would like to thank Prof. Dr.-Ing. Robert Güttel, M.Sc. Hannes Stagge and M.Sc. Max Gäßler for their guidance and support. </vt:lpstr>
      <vt:lpstr>Ganttchart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Residence Time Distribution Analysis via Convolutional Neural Networks: A Promising Approach </dc:title>
  <dc:creator>Tuana Oyuncu</dc:creator>
  <cp:lastModifiedBy>Tuana Oyuncu</cp:lastModifiedBy>
  <cp:revision>37</cp:revision>
  <cp:lastPrinted>2015-02-13T10:13:39Z</cp:lastPrinted>
  <dcterms:created xsi:type="dcterms:W3CDTF">2024-06-29T12:46:34Z</dcterms:created>
  <dcterms:modified xsi:type="dcterms:W3CDTF">2024-10-09T12:20:06Z</dcterms:modified>
</cp:coreProperties>
</file>